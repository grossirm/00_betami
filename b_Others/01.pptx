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4" r:id="rId9"/>
    <p:sldId id="265" r:id="rId10"/>
    <p:sldId id="267" r:id="rId11"/>
    <p:sldId id="269" r:id="rId12"/>
    <p:sldId id="262" r:id="rId13"/>
    <p:sldId id="268" r:id="rId1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2CC"/>
    <a:srgbClr val="FAD9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ACC7-CAF4-AFF7-B308-853C71F57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5111B-5600-937B-2FDE-BEDE7CB7A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719B3-3571-BCE2-4246-93C7251A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347FC-65D9-CA8F-8529-E0962E6A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309EF-CB9B-EF57-FC84-26C5B71D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161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3E9F-1C17-66B1-BA66-7D898FA0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7625E-7963-8BBB-C8E7-97A0FD1FA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EF080-E6A6-849F-E79D-F1A98EE3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7309F-BA6A-47F8-0177-05D00E2C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EA71C-5B5B-619E-FB26-CBD2923E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86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86C9-FAD7-6132-B131-D4C6DE76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A0ABC-FB2C-8821-2E57-7BBF3A3C7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70BDA-CD36-288A-481D-96DE7068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70DBA-A45A-9D28-258D-A867F402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F3DE1-5E59-A80F-D5EC-452AD9D7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40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E13F-1E25-05B9-D6CD-438B0148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CC91-FF68-5472-9796-68D47893F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1510E-CFC5-A748-91FA-E44081EE1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8AA83-3E03-8A8F-7839-8C441DA9E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D5094-EA69-23AD-7DFB-73B46660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F20C7-60F8-7D19-0A39-3D16A238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496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3F18-B4E0-A756-63A6-BA2C8AEC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9F224-F65B-CBD4-4230-C1C9CC1A8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8C90D-ACD5-8B79-3B53-39E2A0FA0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74A0F-A0E2-1402-8EFA-DA13D1FF1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4332A8-4AA5-17DE-3AC1-597407D79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9DCBD-7E91-8433-F835-F4A4EF6E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307C4-9CC4-CF80-25E2-BEBEFD46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748AA3-705B-54C0-F7B8-6B51A627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956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940AA-5609-E4D2-7E8B-5C1D6C8E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08760-51A8-6B7D-AF6F-04A355CBF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84903-6136-D0AC-C8E5-7DAA329E2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8FC8-9612-477A-88A7-6DCE8280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571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9C681-89AA-CDAD-843B-B2858908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0BE8A-F380-46B7-5673-1D6D5466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88E0-9415-F8B7-7D65-318449AA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75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AE9B-5016-3562-7EB1-4B643BA1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D7854-E6EA-53A9-C1BA-BA846A279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B32EF-BC84-A20F-08B5-9939A4A8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DE65E-DCBD-F64E-76CC-909AFA73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0DF15-5100-F4FC-B243-C49FEB99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A4512-DBF5-65E1-4829-4407401B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159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9759-69EB-A1C8-E6B2-690E15F5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98FC0-2070-A188-5E31-1A1D2F065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5C83F-9F46-0661-E5A3-4F4F83249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FB028-E232-DFA4-B40D-889EC5EB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592CC-EC9A-F53A-E79A-20393ACA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0230B-B9CC-4441-02CD-0D59EC1F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6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7188-0734-69BF-06A6-F99FB021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23161-F9CC-207D-35CB-CFB5B1E0F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34B28-408B-7017-7373-A1F25CD1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26A19-3BE2-D2E0-0589-A797D9AA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DD2E-FA9B-5182-8D6A-CF80C14D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506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6E7B-31B1-C759-2710-4B5026128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09FB2-AD7A-BEFD-CC75-D3F96DCF6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EB602-ED08-418E-E1F0-4BAAB880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5296C-6584-97FA-923F-F7CFBB64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B5ADA-1A20-99C0-B185-EB725D15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069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E829DD-6BFB-2474-6A90-86E0AD52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A4AA4-92C1-C775-64EC-651ABAD89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DFE85-EA29-0CB8-0C52-173491EF2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943F9-8AC6-4393-AEEF-D45C2A43C7C7}" type="datetimeFigureOut">
              <a:rPr lang="LID4096" smtClean="0"/>
              <a:t>12/24/2024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5AFCC-BF82-71B3-7D59-64FBA713F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E9AA-3BC3-2FA4-653F-9F56F2F2D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DDE61-F2CD-4685-9306-DD5B16490D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057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02_Flopy_1_2_3__/d_01_groundwater_Initial/01/groundwater_paper_example_1.ipyn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png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15.png"/><Relationship Id="rId12" Type="http://schemas.openxmlformats.org/officeDocument/2006/relationships/image" Target="../media/image3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30.png"/><Relationship Id="rId5" Type="http://schemas.openxmlformats.org/officeDocument/2006/relationships/image" Target="../media/image18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8EAC46-2131-53DB-7C71-7C7550FCE7EA}"/>
              </a:ext>
            </a:extLst>
          </p:cNvPr>
          <p:cNvSpPr txBox="1"/>
          <p:nvPr/>
        </p:nvSpPr>
        <p:spPr>
          <a:xfrm>
            <a:off x="0" y="0"/>
            <a:ext cx="19420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</a:rPr>
              <a:t>Flopy</a:t>
            </a:r>
          </a:p>
          <a:p>
            <a:r>
              <a:rPr lang="en-GB" dirty="0" err="1"/>
              <a:t>flopy.modflow</a:t>
            </a:r>
            <a:endParaRPr lang="en-GB" dirty="0"/>
          </a:p>
          <a:p>
            <a:r>
              <a:rPr lang="en-GB" dirty="0" err="1"/>
              <a:t>flopy.utils</a:t>
            </a:r>
            <a:endParaRPr lang="en-GB" dirty="0"/>
          </a:p>
          <a:p>
            <a:r>
              <a:rPr lang="en-GB" dirty="0" err="1">
                <a:solidFill>
                  <a:srgbClr val="0000FF"/>
                </a:solidFill>
              </a:rPr>
              <a:t>numpy</a:t>
            </a:r>
            <a:endParaRPr lang="en-GB" dirty="0">
              <a:solidFill>
                <a:srgbClr val="0000FF"/>
              </a:solidFill>
            </a:endParaRPr>
          </a:p>
          <a:p>
            <a:r>
              <a:rPr lang="en-GB" dirty="0" err="1"/>
              <a:t>Pamdas</a:t>
            </a:r>
            <a:endParaRPr lang="en-GB" dirty="0"/>
          </a:p>
          <a:p>
            <a:r>
              <a:rPr lang="en-US" dirty="0"/>
              <a:t>G</a:t>
            </a:r>
            <a:r>
              <a:rPr lang="LID4096" dirty="0"/>
              <a:t>it</a:t>
            </a:r>
            <a:endParaRPr lang="pt-BR" dirty="0"/>
          </a:p>
          <a:p>
            <a:r>
              <a:rPr lang="pt-BR" dirty="0"/>
              <a:t>Sys</a:t>
            </a:r>
          </a:p>
          <a:p>
            <a:r>
              <a:rPr lang="en-US" dirty="0" err="1"/>
              <a:t>Pathlib</a:t>
            </a:r>
            <a:endParaRPr lang="pt-BR" dirty="0"/>
          </a:p>
          <a:p>
            <a:r>
              <a:rPr lang="pt-BR" dirty="0" err="1"/>
              <a:t>Pprint</a:t>
            </a:r>
            <a:endParaRPr lang="pt-BR" dirty="0"/>
          </a:p>
          <a:p>
            <a:r>
              <a:rPr lang="en-US" dirty="0"/>
              <a:t>Pooch  NET</a:t>
            </a:r>
            <a:endParaRPr lang="LID4096" dirty="0"/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70A5D-C2E0-B1D6-C9EF-AF437DC99EAA}"/>
              </a:ext>
            </a:extLst>
          </p:cNvPr>
          <p:cNvSpPr txBox="1"/>
          <p:nvPr/>
        </p:nvSpPr>
        <p:spPr>
          <a:xfrm>
            <a:off x="1040672" y="958816"/>
            <a:ext cx="77071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100" dirty="0"/>
              <a:t>MODULES</a:t>
            </a:r>
            <a:endParaRPr lang="LID4096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8D5E8B-83D2-08C1-4643-1DCCA30BC473}"/>
              </a:ext>
            </a:extLst>
          </p:cNvPr>
          <p:cNvSpPr txBox="1"/>
          <p:nvPr/>
        </p:nvSpPr>
        <p:spPr>
          <a:xfrm>
            <a:off x="9196375" y="4931618"/>
            <a:ext cx="29968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ws = </a:t>
            </a:r>
            <a:r>
              <a:rPr lang="LID4096" dirty="0">
                <a:solidFill>
                  <a:srgbClr val="0000FF"/>
                </a:solidFill>
              </a:rPr>
              <a:t>os.path.join</a:t>
            </a:r>
            <a:r>
              <a:rPr lang="LID4096" dirty="0"/>
              <a:t>("temp")</a:t>
            </a:r>
            <a:endParaRPr lang="pt-BR" dirty="0"/>
          </a:p>
          <a:p>
            <a:r>
              <a:rPr lang="LID4096" dirty="0"/>
              <a:t>if not </a:t>
            </a:r>
            <a:r>
              <a:rPr lang="LID4096" dirty="0">
                <a:solidFill>
                  <a:srgbClr val="0000FF"/>
                </a:solidFill>
              </a:rPr>
              <a:t>os.path.exists</a:t>
            </a:r>
            <a:r>
              <a:rPr lang="LID4096" dirty="0"/>
              <a:t>(ws):    </a:t>
            </a:r>
            <a:endParaRPr lang="pt-BR" dirty="0"/>
          </a:p>
          <a:p>
            <a:r>
              <a:rPr lang="LID4096" dirty="0">
                <a:solidFill>
                  <a:srgbClr val="0000FF"/>
                </a:solidFill>
              </a:rPr>
              <a:t>os.makedirs</a:t>
            </a:r>
            <a:r>
              <a:rPr lang="LID4096" dirty="0"/>
              <a:t>(ws)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FFDBC0-E971-FB93-2EEA-D8E8261F5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992" y="1313458"/>
            <a:ext cx="3738290" cy="3259022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2C3E73F-C6F0-EEF5-20BD-88215BEE58EA}"/>
              </a:ext>
            </a:extLst>
          </p:cNvPr>
          <p:cNvGrpSpPr/>
          <p:nvPr/>
        </p:nvGrpSpPr>
        <p:grpSpPr>
          <a:xfrm>
            <a:off x="5286104" y="258624"/>
            <a:ext cx="6679473" cy="584775"/>
            <a:chOff x="5286104" y="258624"/>
            <a:chExt cx="6679473" cy="5847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C3F47F-2A45-A506-209A-B562EFB6FE15}"/>
                </a:ext>
              </a:extLst>
            </p:cNvPr>
            <p:cNvSpPr/>
            <p:nvPr/>
          </p:nvSpPr>
          <p:spPr>
            <a:xfrm>
              <a:off x="8164285" y="551011"/>
              <a:ext cx="892629" cy="292388"/>
            </a:xfrm>
            <a:prstGeom prst="rect">
              <a:avLst/>
            </a:prstGeom>
            <a:solidFill>
              <a:srgbClr val="FAD9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B7BB78-8465-B496-430B-33538DFFAFA7}"/>
                </a:ext>
              </a:extLst>
            </p:cNvPr>
            <p:cNvSpPr txBox="1"/>
            <p:nvPr/>
          </p:nvSpPr>
          <p:spPr>
            <a:xfrm>
              <a:off x="5286104" y="258624"/>
              <a:ext cx="667947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600" dirty="0"/>
                <a:t>wsl = data_path / "uspb" / "flopy"</a:t>
              </a:r>
            </a:p>
            <a:p>
              <a:r>
                <a:rPr lang="LID4096" sz="1600" dirty="0">
                  <a:solidFill>
                    <a:srgbClr val="0000FF"/>
                  </a:solidFill>
                </a:rPr>
                <a:t>ml = flopy.modflow.Modflow.load</a:t>
              </a:r>
              <a:r>
                <a:rPr lang="LID4096" sz="1600" dirty="0"/>
                <a:t>("DG.nam", model_ws=wsl, verbose=False)</a:t>
              </a:r>
            </a:p>
          </p:txBody>
        </p:sp>
      </p:grp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D96281D-6232-D518-7038-22FF4096A041}"/>
              </a:ext>
            </a:extLst>
          </p:cNvPr>
          <p:cNvSpPr/>
          <p:nvPr/>
        </p:nvSpPr>
        <p:spPr>
          <a:xfrm rot="10800000">
            <a:off x="9427341" y="2624970"/>
            <a:ext cx="246485" cy="116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F81F7EF7-8B38-F26B-27E4-7D46FC810107}"/>
              </a:ext>
            </a:extLst>
          </p:cNvPr>
          <p:cNvSpPr/>
          <p:nvPr/>
        </p:nvSpPr>
        <p:spPr>
          <a:xfrm rot="10800000">
            <a:off x="9427340" y="3236116"/>
            <a:ext cx="246485" cy="116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91AD375-8F4A-C0B7-DA3E-054D03E43E76}"/>
              </a:ext>
            </a:extLst>
          </p:cNvPr>
          <p:cNvSpPr/>
          <p:nvPr/>
        </p:nvSpPr>
        <p:spPr>
          <a:xfrm rot="10800000">
            <a:off x="9649652" y="3353980"/>
            <a:ext cx="246485" cy="116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56B377A4-25E2-E9D0-4101-3F3342987A2B}"/>
              </a:ext>
            </a:extLst>
          </p:cNvPr>
          <p:cNvSpPr/>
          <p:nvPr/>
        </p:nvSpPr>
        <p:spPr>
          <a:xfrm rot="10800000">
            <a:off x="9494775" y="4239430"/>
            <a:ext cx="246485" cy="116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8A7C52D-942B-7952-5170-B258F774612B}"/>
              </a:ext>
            </a:extLst>
          </p:cNvPr>
          <p:cNvSpPr/>
          <p:nvPr/>
        </p:nvSpPr>
        <p:spPr>
          <a:xfrm rot="10800000">
            <a:off x="9494774" y="2302771"/>
            <a:ext cx="246485" cy="116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16F14-F14F-F41C-BD5B-178C6E00909A}"/>
              </a:ext>
            </a:extLst>
          </p:cNvPr>
          <p:cNvSpPr txBox="1"/>
          <p:nvPr/>
        </p:nvSpPr>
        <p:spPr>
          <a:xfrm>
            <a:off x="5562600" y="6457890"/>
            <a:ext cx="6988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000" dirty="0">
                <a:hlinkClick r:id="rId3"/>
              </a:rPr>
              <a:t>http://localhost:8888/notebooks/02_Flopy_1_2_3__/d_01_groundwater_Initial/01/groundwater_paper_example_1.ipynb#</a:t>
            </a:r>
            <a:endParaRPr lang="pt-BR" sz="1000" dirty="0"/>
          </a:p>
          <a:p>
            <a:r>
              <a:rPr lang="en-US" sz="1000" dirty="0"/>
              <a:t>E:\15_REPOS\00_Betami\02_Flopy_1_2_3__\d_01_groundwater_Initial\01\tempIN</a:t>
            </a:r>
            <a:endParaRPr lang="LID4096" sz="1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34ABD9-7602-B0EB-19FE-9C2D8F744828}"/>
              </a:ext>
            </a:extLst>
          </p:cNvPr>
          <p:cNvGrpSpPr/>
          <p:nvPr/>
        </p:nvGrpSpPr>
        <p:grpSpPr>
          <a:xfrm>
            <a:off x="119910" y="2912686"/>
            <a:ext cx="8007434" cy="3764692"/>
            <a:chOff x="119910" y="2912686"/>
            <a:chExt cx="8007434" cy="3764692"/>
          </a:xfrm>
        </p:grpSpPr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F8C7C598-A615-4317-B72F-A3F66F6B5F98}"/>
                </a:ext>
              </a:extLst>
            </p:cNvPr>
            <p:cNvSpPr/>
            <p:nvPr/>
          </p:nvSpPr>
          <p:spPr>
            <a:xfrm>
              <a:off x="6432302" y="4257850"/>
              <a:ext cx="1371599" cy="3048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B3B0A4B-0D33-FC29-8F50-6FAB634B5257}"/>
                </a:ext>
              </a:extLst>
            </p:cNvPr>
            <p:cNvGrpSpPr/>
            <p:nvPr/>
          </p:nvGrpSpPr>
          <p:grpSpPr>
            <a:xfrm>
              <a:off x="119910" y="2912686"/>
              <a:ext cx="8007434" cy="3284778"/>
              <a:chOff x="119910" y="2912686"/>
              <a:chExt cx="8007434" cy="328477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E239A81-CD12-3BE1-2FCD-B750689D7894}"/>
                  </a:ext>
                </a:extLst>
              </p:cNvPr>
              <p:cNvGrpSpPr/>
              <p:nvPr/>
            </p:nvGrpSpPr>
            <p:grpSpPr>
              <a:xfrm>
                <a:off x="119910" y="2912686"/>
                <a:ext cx="8007434" cy="3284778"/>
                <a:chOff x="12310" y="2096533"/>
                <a:chExt cx="8007434" cy="328477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533F44DD-79AD-F946-308F-C006337FD37D}"/>
                    </a:ext>
                  </a:extLst>
                </p:cNvPr>
                <p:cNvGrpSpPr/>
                <p:nvPr/>
              </p:nvGrpSpPr>
              <p:grpSpPr>
                <a:xfrm>
                  <a:off x="971005" y="3550900"/>
                  <a:ext cx="7048739" cy="1830411"/>
                  <a:chOff x="883917" y="2065109"/>
                  <a:chExt cx="7048739" cy="1830411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19DC81D2-237D-A227-4BA7-FA59486B2DC0}"/>
                      </a:ext>
                    </a:extLst>
                  </p:cNvPr>
                  <p:cNvGrpSpPr/>
                  <p:nvPr/>
                </p:nvGrpSpPr>
                <p:grpSpPr>
                  <a:xfrm>
                    <a:off x="883917" y="2065109"/>
                    <a:ext cx="5212083" cy="1830411"/>
                    <a:chOff x="1389015" y="2753086"/>
                    <a:chExt cx="5212083" cy="1830411"/>
                  </a:xfrm>
                </p:grpSpPr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7397EC9E-3A42-BB53-7157-5228F79C9C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331" y="2786743"/>
                      <a:ext cx="1306286" cy="1796754"/>
                    </a:xfrm>
                    <a:prstGeom prst="rect">
                      <a:avLst/>
                    </a:prstGeom>
                    <a:solidFill>
                      <a:srgbClr val="FAD9C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LID4096"/>
                    </a:p>
                  </p:txBody>
                </p:sp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0DACD07B-BC08-F14E-2389-5F41B763EE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89015" y="2753086"/>
                      <a:ext cx="5212083" cy="1754326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LID4096" dirty="0"/>
                        <a:t>fpm.Modflow</a:t>
                      </a:r>
                      <a:r>
                        <a:rPr lang="pt-BR" dirty="0"/>
                        <a:t>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Dis</a:t>
                      </a:r>
                      <a:endParaRPr lang="pt-BR" dirty="0"/>
                    </a:p>
                    <a:p>
                      <a:r>
                        <a:rPr lang="LID4096" dirty="0"/>
                        <a:t>fpm.Modflow</a:t>
                      </a:r>
                      <a:r>
                        <a:rPr lang="pt-BR" dirty="0"/>
                        <a:t> </a:t>
                      </a:r>
                      <a:r>
                        <a:rPr lang="pt-BR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Bas</a:t>
                      </a:r>
                      <a:r>
                        <a:rPr lang="pt-BR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LID4096" dirty="0"/>
                        <a:t>(model, ibound=ibound, strt=20)        fpm.Modflow</a:t>
                      </a:r>
                      <a:r>
                        <a:rPr lang="pt-BR" dirty="0"/>
                        <a:t>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Lpf</a:t>
                      </a:r>
                      <a:r>
                        <a:rPr lang="pt-BR" dirty="0">
                          <a:solidFill>
                            <a:srgbClr val="0000FF"/>
                          </a:solidFill>
                        </a:rPr>
                        <a:t>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(model, hk=10, laytyp=1)        </a:t>
                      </a:r>
                      <a:r>
                        <a:rPr lang="LID4096" dirty="0"/>
                        <a:t>fpm.Modflow</a:t>
                      </a:r>
                      <a:r>
                        <a:rPr lang="pt-BR" dirty="0"/>
                        <a:t>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Wel</a:t>
                      </a:r>
                      <a:r>
                        <a:rPr lang="pt-BR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(model, stress_period_data=lrcQ)        </a:t>
                      </a:r>
                      <a:r>
                        <a:rPr lang="LID4096" dirty="0"/>
                        <a:t>fpm.Modflow</a:t>
                      </a:r>
                      <a:r>
                        <a:rPr lang="pt-BR" dirty="0"/>
                        <a:t>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Pcg</a:t>
                      </a:r>
                      <a:r>
                        <a:rPr lang="pt-BR" dirty="0">
                          <a:solidFill>
                            <a:srgbClr val="0000FF"/>
                          </a:solidFill>
                        </a:rPr>
                        <a:t>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(model)        </a:t>
                      </a:r>
                      <a:endParaRPr lang="pt-BR" dirty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LID4096" dirty="0"/>
                        <a:t>fpm.Modflow</a:t>
                      </a:r>
                      <a:r>
                        <a:rPr lang="pt-BR" dirty="0"/>
                        <a:t>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Oc</a:t>
                      </a:r>
                      <a:r>
                        <a:rPr lang="pt-BR" dirty="0">
                          <a:solidFill>
                            <a:srgbClr val="0000FF"/>
                          </a:solidFill>
                        </a:rPr>
                        <a:t>   </a:t>
                      </a:r>
                      <a:r>
                        <a:rPr lang="LID4096" dirty="0">
                          <a:solidFill>
                            <a:srgbClr val="0000FF"/>
                          </a:solidFill>
                        </a:rPr>
                        <a:t>(model)</a:t>
                      </a:r>
                    </a:p>
                  </p:txBody>
                </p:sp>
              </p:grp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813E750-2F34-848A-71F0-318290E6E827}"/>
                      </a:ext>
                    </a:extLst>
                  </p:cNvPr>
                  <p:cNvSpPr txBox="1"/>
                  <p:nvPr/>
                </p:nvSpPr>
                <p:spPr>
                  <a:xfrm>
                    <a:off x="5690199" y="3524419"/>
                    <a:ext cx="2242457" cy="26161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LID4096" sz="1100" dirty="0"/>
                      <a:t>09_groundwater_paper_example_1</a:t>
                    </a:r>
                  </a:p>
                </p:txBody>
              </p:sp>
            </p:grp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A807ECD-6101-203A-AAC8-EE6964C5B44D}"/>
                    </a:ext>
                  </a:extLst>
                </p:cNvPr>
                <p:cNvSpPr txBox="1"/>
                <p:nvPr/>
              </p:nvSpPr>
              <p:spPr>
                <a:xfrm>
                  <a:off x="12310" y="2096533"/>
                  <a:ext cx="7276065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LID4096" b="1" dirty="0">
                      <a:solidFill>
                        <a:srgbClr val="FF0000"/>
                      </a:solidFill>
                    </a:rPr>
                    <a:t>exe = "MF2K5_FMP2_dbg64"</a:t>
                  </a:r>
                </a:p>
                <a:p>
                  <a:r>
                    <a:rPr lang="LID4096" b="1" dirty="0">
                      <a:solidFill>
                        <a:srgbClr val="00B050"/>
                      </a:solidFill>
                    </a:rPr>
                    <a:t>ws = os.path.join("temp")</a:t>
                  </a:r>
                </a:p>
                <a:p>
                  <a:r>
                    <a:rPr lang="LID4096" dirty="0"/>
                    <a:t>model = fpm.Modflow(modelname="Beta", </a:t>
                  </a:r>
                  <a:r>
                    <a:rPr lang="LID4096" b="1" dirty="0">
                      <a:solidFill>
                        <a:srgbClr val="FF0000"/>
                      </a:solidFill>
                    </a:rPr>
                    <a:t>exe_name=exe</a:t>
                  </a:r>
                  <a:r>
                    <a:rPr lang="LID4096" b="1" dirty="0">
                      <a:solidFill>
                        <a:srgbClr val="00B050"/>
                      </a:solidFill>
                    </a:rPr>
                    <a:t>, model_ws=ws)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A5027A-5F31-00D6-F269-C24737840A5F}"/>
                  </a:ext>
                </a:extLst>
              </p:cNvPr>
              <p:cNvSpPr txBox="1"/>
              <p:nvPr/>
            </p:nvSpPr>
            <p:spPr>
              <a:xfrm>
                <a:off x="1078605" y="4459196"/>
                <a:ext cx="6120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LID4096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753F478-E7C0-B25E-A559-769937F5A3FB}"/>
                </a:ext>
              </a:extLst>
            </p:cNvPr>
            <p:cNvSpPr txBox="1"/>
            <p:nvPr/>
          </p:nvSpPr>
          <p:spPr>
            <a:xfrm>
              <a:off x="971005" y="6308046"/>
              <a:ext cx="2159726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pt-BR" dirty="0"/>
                <a:t>= </a:t>
              </a:r>
              <a:r>
                <a:rPr lang="LID4096" dirty="0"/>
                <a:t>mf6.ModflowGwf</a:t>
              </a:r>
              <a:r>
                <a:rPr lang="pt-BR" dirty="0"/>
                <a:t>(</a:t>
              </a:r>
              <a:endParaRPr lang="LID4096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73A021-D7E7-A960-D68A-77258067B3BA}"/>
                </a:ext>
              </a:extLst>
            </p:cNvPr>
            <p:cNvSpPr txBox="1"/>
            <p:nvPr/>
          </p:nvSpPr>
          <p:spPr>
            <a:xfrm>
              <a:off x="3945053" y="5741764"/>
              <a:ext cx="173293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LID4096" dirty="0"/>
                <a:t># output control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FD2CF9-F252-58B8-071D-17D08640583E}"/>
                </a:ext>
              </a:extLst>
            </p:cNvPr>
            <p:cNvSpPr txBox="1"/>
            <p:nvPr/>
          </p:nvSpPr>
          <p:spPr>
            <a:xfrm>
              <a:off x="645255" y="4400710"/>
              <a:ext cx="433350" cy="17543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pt-BR" dirty="0"/>
                <a:t>01</a:t>
              </a:r>
            </a:p>
            <a:p>
              <a:r>
                <a:rPr lang="pt-BR" dirty="0"/>
                <a:t>02</a:t>
              </a:r>
            </a:p>
            <a:p>
              <a:r>
                <a:rPr lang="pt-BR" dirty="0"/>
                <a:t>03</a:t>
              </a:r>
            </a:p>
            <a:p>
              <a:r>
                <a:rPr lang="pt-BR" dirty="0"/>
                <a:t>04</a:t>
              </a:r>
            </a:p>
            <a:p>
              <a:r>
                <a:rPr lang="pt-BR" dirty="0"/>
                <a:t>05</a:t>
              </a:r>
            </a:p>
            <a:p>
              <a:r>
                <a:rPr lang="pt-BR" dirty="0"/>
                <a:t>06</a:t>
              </a:r>
              <a:endParaRPr lang="LID4096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7507D1-C4EB-723E-3191-2306A5D14BFB}"/>
                </a:ext>
              </a:extLst>
            </p:cNvPr>
            <p:cNvSpPr txBox="1"/>
            <p:nvPr/>
          </p:nvSpPr>
          <p:spPr>
            <a:xfrm>
              <a:off x="3945053" y="5485111"/>
              <a:ext cx="173293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LID4096" dirty="0"/>
                <a:t># </a:t>
              </a:r>
              <a:r>
                <a:rPr lang="pt-BR" dirty="0"/>
                <a:t>solver</a:t>
              </a:r>
              <a:endParaRPr lang="LID4096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9DFF02-BADB-709D-049F-B676758152EB}"/>
                </a:ext>
              </a:extLst>
            </p:cNvPr>
            <p:cNvSpPr txBox="1"/>
            <p:nvPr/>
          </p:nvSpPr>
          <p:spPr>
            <a:xfrm>
              <a:off x="666166" y="4009012"/>
              <a:ext cx="299143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pt-BR" dirty="0"/>
                <a:t>Essencial model </a:t>
              </a:r>
              <a:r>
                <a:rPr lang="pt-BR" dirty="0" err="1"/>
                <a:t>unities</a:t>
              </a:r>
              <a:endParaRPr lang="LID4096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0CA5C9-29D3-B126-5587-4A298EB31319}"/>
                </a:ext>
              </a:extLst>
            </p:cNvPr>
            <p:cNvSpPr txBox="1"/>
            <p:nvPr/>
          </p:nvSpPr>
          <p:spPr>
            <a:xfrm>
              <a:off x="6111373" y="4920671"/>
              <a:ext cx="9394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LID4096" dirty="0"/>
                <a:t># </a:t>
              </a:r>
              <a:r>
                <a:rPr lang="pt-BR" dirty="0"/>
                <a:t>Layers</a:t>
              </a:r>
              <a:endParaRPr lang="LID4096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B67D59-B68E-2254-8550-30FC7105552E}"/>
                </a:ext>
              </a:extLst>
            </p:cNvPr>
            <p:cNvSpPr txBox="1"/>
            <p:nvPr/>
          </p:nvSpPr>
          <p:spPr>
            <a:xfrm>
              <a:off x="6117003" y="4550885"/>
              <a:ext cx="9394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LID4096" dirty="0"/>
                <a:t># </a:t>
              </a:r>
              <a:r>
                <a:rPr lang="pt-BR" dirty="0"/>
                <a:t>Grid</a:t>
              </a:r>
              <a:endParaRPr lang="LID4096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71DC6E-2036-0517-AC73-859463DFB20F}"/>
                </a:ext>
              </a:extLst>
            </p:cNvPr>
            <p:cNvSpPr txBox="1"/>
            <p:nvPr/>
          </p:nvSpPr>
          <p:spPr>
            <a:xfrm>
              <a:off x="3722915" y="4319409"/>
              <a:ext cx="172508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>
              <a:defPPr>
                <a:defRPr lang="LID4096"/>
              </a:defPPr>
            </a:lstStyle>
            <a:p>
              <a:r>
                <a:rPr lang="LID4096" dirty="0"/>
                <a:t>Discretization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9473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766D-3D17-53DE-3D80-827AB7E5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C624469-2C76-23BC-FE35-ACC512A19ACF}"/>
              </a:ext>
            </a:extLst>
          </p:cNvPr>
          <p:cNvSpPr txBox="1"/>
          <p:nvPr/>
        </p:nvSpPr>
        <p:spPr>
          <a:xfrm>
            <a:off x="443144" y="129706"/>
            <a:ext cx="77071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100" dirty="0"/>
              <a:t>MODULES</a:t>
            </a:r>
            <a:endParaRPr lang="LID4096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BFB816-609D-EE05-CF8A-B5B69B9DD2B3}"/>
              </a:ext>
            </a:extLst>
          </p:cNvPr>
          <p:cNvSpPr txBox="1"/>
          <p:nvPr/>
        </p:nvSpPr>
        <p:spPr>
          <a:xfrm>
            <a:off x="660903" y="2254497"/>
            <a:ext cx="84559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flopy.</a:t>
            </a:r>
            <a:r>
              <a:rPr lang="LID4096" dirty="0">
                <a:solidFill>
                  <a:srgbClr val="FF0000"/>
                </a:solidFill>
              </a:rPr>
              <a:t>mf6.Modflow</a:t>
            </a:r>
            <a:r>
              <a:rPr lang="LID4096" sz="2000" b="1" dirty="0">
                <a:solidFill>
                  <a:srgbClr val="0000FF"/>
                </a:solidFill>
              </a:rPr>
              <a:t>Tdis</a:t>
            </a:r>
            <a:r>
              <a:rPr lang="LID4096" dirty="0"/>
              <a:t>(sim, nper=10, perioddata=[[365.0, 1, 1.0] for _ in range(10)])</a:t>
            </a:r>
          </a:p>
          <a:p>
            <a:r>
              <a:rPr lang="LID4096" dirty="0"/>
              <a:t>flopy.mf6.Modflow</a:t>
            </a:r>
            <a:r>
              <a:rPr lang="LID4096" sz="2000" b="1" dirty="0">
                <a:solidFill>
                  <a:srgbClr val="0000FF"/>
                </a:solidFill>
              </a:rPr>
              <a:t>Ims</a:t>
            </a:r>
            <a:r>
              <a:rPr lang="LID4096" dirty="0"/>
              <a:t>(sim)</a:t>
            </a:r>
          </a:p>
          <a:p>
            <a:r>
              <a:rPr lang="LID4096" dirty="0"/>
              <a:t>flopy.mf6.Modflow</a:t>
            </a:r>
            <a:r>
              <a:rPr lang="LID4096" sz="2000" b="1" dirty="0">
                <a:solidFill>
                  <a:srgbClr val="0000FF"/>
                </a:solidFill>
              </a:rPr>
              <a:t>Gwfdis</a:t>
            </a:r>
            <a:r>
              <a:rPr lang="LID4096" dirty="0"/>
              <a:t>(gwf, nlay=3, nrow=4, ncol=5, top=50.0, botm=botm)</a:t>
            </a:r>
          </a:p>
          <a:p>
            <a:r>
              <a:rPr lang="LID4096" dirty="0"/>
              <a:t>flopy.mf6.Modflow</a:t>
            </a:r>
            <a:r>
              <a:rPr lang="LID4096" sz="2000" b="1" dirty="0">
                <a:solidFill>
                  <a:srgbClr val="0000FF"/>
                </a:solidFill>
              </a:rPr>
              <a:t>Gwfic</a:t>
            </a:r>
            <a:r>
              <a:rPr lang="LID4096" dirty="0"/>
              <a:t>(gwf)</a:t>
            </a:r>
          </a:p>
          <a:p>
            <a:r>
              <a:rPr lang="LID4096" dirty="0"/>
              <a:t>flopy.mf6.Modflow</a:t>
            </a:r>
            <a:r>
              <a:rPr lang="LID4096" sz="2000" b="1" dirty="0">
                <a:solidFill>
                  <a:srgbClr val="0000FF"/>
                </a:solidFill>
              </a:rPr>
              <a:t>Gwfnpf</a:t>
            </a:r>
            <a:r>
              <a:rPr lang="LID4096" dirty="0"/>
              <a:t>(gwf, save_specific_discharge=True)</a:t>
            </a:r>
          </a:p>
          <a:p>
            <a:r>
              <a:rPr lang="LID4096" dirty="0"/>
              <a:t>flopy.mf6.Modflow</a:t>
            </a:r>
            <a:r>
              <a:rPr lang="LID4096" sz="2000" b="1" dirty="0">
                <a:solidFill>
                  <a:srgbClr val="0000FF"/>
                </a:solidFill>
              </a:rPr>
              <a:t>Gwfchd</a:t>
            </a:r>
            <a:r>
              <a:rPr lang="LID4096" dirty="0"/>
              <a:t>(gwf, stress_period_data=[[(0, 0, 0), 1.0], [(2, 3, 4), 0.0]])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A5FE18-776A-017E-2A6E-791001D37520}"/>
              </a:ext>
            </a:extLst>
          </p:cNvPr>
          <p:cNvSpPr txBox="1"/>
          <p:nvPr/>
        </p:nvSpPr>
        <p:spPr>
          <a:xfrm>
            <a:off x="4735755" y="88891"/>
            <a:ext cx="7549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800" b="1" dirty="0"/>
              <a:t>https://flopy.readthedocs.io/en/latest/code.html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69578-36F8-483D-6A4A-E4E8EB599582}"/>
              </a:ext>
            </a:extLst>
          </p:cNvPr>
          <p:cNvSpPr txBox="1"/>
          <p:nvPr/>
        </p:nvSpPr>
        <p:spPr>
          <a:xfrm>
            <a:off x="189900" y="1336218"/>
            <a:ext cx="9623834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B050"/>
                </a:solidFill>
              </a:rPr>
              <a:t>wsl = data_path / "uspb" / "flopy“</a:t>
            </a:r>
            <a:endParaRPr lang="pt-BR" dirty="0">
              <a:solidFill>
                <a:srgbClr val="00B050"/>
              </a:solidFill>
            </a:endParaRPr>
          </a:p>
          <a:p>
            <a:endParaRPr lang="LID4096" dirty="0"/>
          </a:p>
          <a:p>
            <a:r>
              <a:rPr lang="LID4096" dirty="0"/>
              <a:t>ml = flopy.</a:t>
            </a:r>
            <a:r>
              <a:rPr lang="LID4096" dirty="0">
                <a:solidFill>
                  <a:srgbClr val="FF0000"/>
                </a:solidFill>
              </a:rPr>
              <a:t>modflow.Modflow</a:t>
            </a:r>
            <a:r>
              <a:rPr lang="LID4096" dirty="0"/>
              <a:t>.</a:t>
            </a:r>
            <a:r>
              <a:rPr lang="LID4096" b="1" dirty="0">
                <a:solidFill>
                  <a:srgbClr val="0000FF"/>
                </a:solidFill>
              </a:rPr>
              <a:t>load</a:t>
            </a:r>
            <a:r>
              <a:rPr lang="LID4096" dirty="0"/>
              <a:t>("DG.nam", model_ws=wsl, verbose=False)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E55E8-5A76-940B-0240-C8CFC4102177}"/>
              </a:ext>
            </a:extLst>
          </p:cNvPr>
          <p:cNvSpPr txBox="1"/>
          <p:nvPr/>
        </p:nvSpPr>
        <p:spPr>
          <a:xfrm>
            <a:off x="5837109" y="613523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FF0000"/>
                </a:solidFill>
              </a:rPr>
              <a:t>riv_dtype = </a:t>
            </a:r>
            <a:r>
              <a:rPr lang="LID4096" dirty="0"/>
              <a:t>flopy.</a:t>
            </a:r>
            <a:r>
              <a:rPr lang="LID4096" dirty="0">
                <a:solidFill>
                  <a:srgbClr val="FF0000"/>
                </a:solidFill>
              </a:rPr>
              <a:t>mf</a:t>
            </a:r>
            <a:r>
              <a:rPr lang="pt-BR" dirty="0">
                <a:solidFill>
                  <a:srgbClr val="FF0000"/>
                </a:solidFill>
              </a:rPr>
              <a:t>6</a:t>
            </a:r>
            <a:r>
              <a:rPr lang="LID4096" dirty="0">
                <a:solidFill>
                  <a:srgbClr val="FF0000"/>
                </a:solidFill>
              </a:rPr>
              <a:t>.Modflow</a:t>
            </a:r>
            <a:r>
              <a:rPr lang="pt-BR" dirty="0">
                <a:solidFill>
                  <a:srgbClr val="FF0000"/>
                </a:solidFill>
              </a:rPr>
              <a:t>CHD</a:t>
            </a:r>
            <a:r>
              <a:rPr lang="LID4096" dirty="0"/>
              <a:t>.get_default_dtype()</a:t>
            </a:r>
          </a:p>
          <a:p>
            <a:r>
              <a:rPr lang="LID4096" dirty="0">
                <a:solidFill>
                  <a:srgbClr val="FF0000"/>
                </a:solidFill>
              </a:rPr>
              <a:t>print(</a:t>
            </a:r>
            <a:r>
              <a:rPr lang="pt-BR" dirty="0">
                <a:solidFill>
                  <a:srgbClr val="FF0000"/>
                </a:solidFill>
              </a:rPr>
              <a:t>CHD</a:t>
            </a:r>
            <a:r>
              <a:rPr lang="LID4096" dirty="0">
                <a:solidFill>
                  <a:srgbClr val="FF0000"/>
                </a:solidFill>
              </a:rPr>
              <a:t>_dtype)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B578E-7770-E74E-ABD8-EB22DE83D904}"/>
              </a:ext>
            </a:extLst>
          </p:cNvPr>
          <p:cNvSpPr txBox="1"/>
          <p:nvPr/>
        </p:nvSpPr>
        <p:spPr>
          <a:xfrm>
            <a:off x="5373873" y="6273737"/>
            <a:ext cx="845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?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D4752-7382-EE88-0028-BDDEAA5CF8E5}"/>
              </a:ext>
            </a:extLst>
          </p:cNvPr>
          <p:cNvSpPr txBox="1"/>
          <p:nvPr/>
        </p:nvSpPr>
        <p:spPr>
          <a:xfrm>
            <a:off x="9265920" y="2520653"/>
            <a:ext cx="215972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= </a:t>
            </a:r>
            <a:r>
              <a:rPr lang="LID4096" dirty="0"/>
              <a:t>mf6.ModflowGwf</a:t>
            </a:r>
            <a:r>
              <a:rPr lang="pt-BR" dirty="0"/>
              <a:t>(</a:t>
            </a:r>
            <a:endParaRPr lang="LID4096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BEFB2E-4CE3-921F-C625-708885EF0780}"/>
              </a:ext>
            </a:extLst>
          </p:cNvPr>
          <p:cNvGrpSpPr/>
          <p:nvPr/>
        </p:nvGrpSpPr>
        <p:grpSpPr>
          <a:xfrm>
            <a:off x="1078605" y="4367053"/>
            <a:ext cx="7048739" cy="1830411"/>
            <a:chOff x="1078605" y="4367053"/>
            <a:chExt cx="7048739" cy="183041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E6C8688-A2FD-4DD3-938C-C313667288CB}"/>
                </a:ext>
              </a:extLst>
            </p:cNvPr>
            <p:cNvGrpSpPr/>
            <p:nvPr/>
          </p:nvGrpSpPr>
          <p:grpSpPr>
            <a:xfrm>
              <a:off x="1078605" y="4367053"/>
              <a:ext cx="7048739" cy="1830411"/>
              <a:chOff x="883917" y="2065109"/>
              <a:chExt cx="7048739" cy="1830411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C81F94C-DD8D-B496-5AF5-B41F161E8A1D}"/>
                  </a:ext>
                </a:extLst>
              </p:cNvPr>
              <p:cNvGrpSpPr/>
              <p:nvPr/>
            </p:nvGrpSpPr>
            <p:grpSpPr>
              <a:xfrm>
                <a:off x="883917" y="2065109"/>
                <a:ext cx="5212083" cy="1830411"/>
                <a:chOff x="1389015" y="2753086"/>
                <a:chExt cx="5212083" cy="1830411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BE48681-76D5-A681-12D6-125F2ECCA3D6}"/>
                    </a:ext>
                  </a:extLst>
                </p:cNvPr>
                <p:cNvSpPr/>
                <p:nvPr/>
              </p:nvSpPr>
              <p:spPr>
                <a:xfrm>
                  <a:off x="1454331" y="2786743"/>
                  <a:ext cx="1306286" cy="1796754"/>
                </a:xfrm>
                <a:prstGeom prst="rect">
                  <a:avLst/>
                </a:prstGeom>
                <a:solidFill>
                  <a:srgbClr val="FAD9C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4BFAF26-AEC4-0829-16F0-66EC65B0DA71}"/>
                    </a:ext>
                  </a:extLst>
                </p:cNvPr>
                <p:cNvSpPr txBox="1"/>
                <p:nvPr/>
              </p:nvSpPr>
              <p:spPr>
                <a:xfrm>
                  <a:off x="1389015" y="2753086"/>
                  <a:ext cx="5212083" cy="17543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LID4096" dirty="0"/>
                    <a:t>fpm.Modflow</a:t>
                  </a:r>
                  <a:r>
                    <a:rPr lang="pt-BR" dirty="0"/>
                    <a:t>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Dis</a:t>
                  </a:r>
                  <a:endParaRPr lang="pt-BR" dirty="0"/>
                </a:p>
                <a:p>
                  <a:r>
                    <a:rPr lang="LID4096" dirty="0"/>
                    <a:t>fpm.Modflow</a:t>
                  </a:r>
                  <a:r>
                    <a:rPr lang="pt-BR" dirty="0"/>
                    <a:t> </a:t>
                  </a:r>
                  <a:r>
                    <a:rPr lang="pt-BR" dirty="0">
                      <a:solidFill>
                        <a:srgbClr val="0000FF"/>
                      </a:solidFill>
                    </a:rPr>
                    <a:t>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Bas</a:t>
                  </a:r>
                  <a:r>
                    <a:rPr lang="pt-BR" dirty="0">
                      <a:solidFill>
                        <a:srgbClr val="0000FF"/>
                      </a:solidFill>
                    </a:rPr>
                    <a:t> </a:t>
                  </a:r>
                  <a:r>
                    <a:rPr lang="LID4096" dirty="0"/>
                    <a:t>(model, ibound=ibound, strt=20)        fpm.Modflow</a:t>
                  </a:r>
                  <a:r>
                    <a:rPr lang="pt-BR" dirty="0"/>
                    <a:t>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Lpf</a:t>
                  </a:r>
                  <a:r>
                    <a:rPr lang="pt-BR" dirty="0">
                      <a:solidFill>
                        <a:srgbClr val="0000FF"/>
                      </a:solidFill>
                    </a:rPr>
                    <a:t>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(model, hk=10, laytyp=1)        </a:t>
                  </a:r>
                  <a:r>
                    <a:rPr lang="LID4096" dirty="0"/>
                    <a:t>fpm.Modflow</a:t>
                  </a:r>
                  <a:r>
                    <a:rPr lang="pt-BR" dirty="0"/>
                    <a:t>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Wel</a:t>
                  </a:r>
                  <a:r>
                    <a:rPr lang="pt-BR" dirty="0">
                      <a:solidFill>
                        <a:srgbClr val="0000FF"/>
                      </a:solidFill>
                    </a:rPr>
                    <a:t>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(model, stress_period_data=lrcQ)        </a:t>
                  </a:r>
                  <a:r>
                    <a:rPr lang="LID4096" dirty="0"/>
                    <a:t>fpm.Modflow</a:t>
                  </a:r>
                  <a:r>
                    <a:rPr lang="pt-BR" dirty="0"/>
                    <a:t>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Pcg</a:t>
                  </a:r>
                  <a:r>
                    <a:rPr lang="pt-BR" dirty="0">
                      <a:solidFill>
                        <a:srgbClr val="0000FF"/>
                      </a:solidFill>
                    </a:rPr>
                    <a:t>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(model)        </a:t>
                  </a:r>
                  <a:endParaRPr lang="pt-BR" dirty="0">
                    <a:solidFill>
                      <a:srgbClr val="0000FF"/>
                    </a:solidFill>
                  </a:endParaRPr>
                </a:p>
                <a:p>
                  <a:r>
                    <a:rPr lang="LID4096" dirty="0"/>
                    <a:t>fpm.Modflow</a:t>
                  </a:r>
                  <a:r>
                    <a:rPr lang="pt-BR" dirty="0"/>
                    <a:t>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Oc</a:t>
                  </a:r>
                  <a:r>
                    <a:rPr lang="pt-BR" dirty="0">
                      <a:solidFill>
                        <a:srgbClr val="0000FF"/>
                      </a:solidFill>
                    </a:rPr>
                    <a:t>   </a:t>
                  </a:r>
                  <a:r>
                    <a:rPr lang="LID4096" dirty="0">
                      <a:solidFill>
                        <a:srgbClr val="0000FF"/>
                      </a:solidFill>
                    </a:rPr>
                    <a:t>(model)</a:t>
                  </a: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B5F50C-EE9B-78CD-DDCA-DFDAA10B8544}"/>
                  </a:ext>
                </a:extLst>
              </p:cNvPr>
              <p:cNvSpPr txBox="1"/>
              <p:nvPr/>
            </p:nvSpPr>
            <p:spPr>
              <a:xfrm>
                <a:off x="5690199" y="3524419"/>
                <a:ext cx="2242457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LID4096" sz="1100" dirty="0"/>
                  <a:t>09_groundwater_paper_example_1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E6033B-A366-26A0-526B-48037A831574}"/>
                </a:ext>
              </a:extLst>
            </p:cNvPr>
            <p:cNvSpPr txBox="1"/>
            <p:nvPr/>
          </p:nvSpPr>
          <p:spPr>
            <a:xfrm>
              <a:off x="1078605" y="4459196"/>
              <a:ext cx="6120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LID4096" dirty="0">
                <a:solidFill>
                  <a:srgbClr val="0000FF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AFBE44C-919F-C63E-EBBB-47B9886AA555}"/>
              </a:ext>
            </a:extLst>
          </p:cNvPr>
          <p:cNvSpPr txBox="1"/>
          <p:nvPr/>
        </p:nvSpPr>
        <p:spPr>
          <a:xfrm>
            <a:off x="645255" y="4400710"/>
            <a:ext cx="43335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01</a:t>
            </a:r>
          </a:p>
          <a:p>
            <a:r>
              <a:rPr lang="pt-BR" dirty="0"/>
              <a:t>02</a:t>
            </a:r>
          </a:p>
          <a:p>
            <a:r>
              <a:rPr lang="pt-BR" dirty="0"/>
              <a:t>03</a:t>
            </a:r>
          </a:p>
          <a:p>
            <a:r>
              <a:rPr lang="pt-BR" dirty="0"/>
              <a:t>04</a:t>
            </a:r>
          </a:p>
          <a:p>
            <a:r>
              <a:rPr lang="pt-BR" dirty="0"/>
              <a:t>05</a:t>
            </a:r>
          </a:p>
          <a:p>
            <a:r>
              <a:rPr lang="pt-BR" dirty="0"/>
              <a:t>06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2851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9695A73-60C5-F9D0-CC62-5415CDBEE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2872"/>
            <a:ext cx="5788558" cy="11048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727F8F-3C83-BE2D-6959-43ABBBF9F75D}"/>
              </a:ext>
            </a:extLst>
          </p:cNvPr>
          <p:cNvSpPr txBox="1"/>
          <p:nvPr/>
        </p:nvSpPr>
        <p:spPr>
          <a:xfrm>
            <a:off x="189899" y="3037474"/>
            <a:ext cx="7994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m = flopy.</a:t>
            </a:r>
            <a:r>
              <a:rPr lang="LID4096" dirty="0">
                <a:solidFill>
                  <a:srgbClr val="FF0000"/>
                </a:solidFill>
              </a:rPr>
              <a:t>modflow.Modflow</a:t>
            </a:r>
            <a:r>
              <a:rPr lang="LID4096" dirty="0"/>
              <a:t>(</a:t>
            </a:r>
            <a:r>
              <a:rPr lang="LID4096" dirty="0">
                <a:solidFill>
                  <a:srgbClr val="00B050"/>
                </a:solidFill>
              </a:rPr>
              <a:t>modelname="b", </a:t>
            </a:r>
            <a:r>
              <a:rPr lang="LID4096" dirty="0"/>
              <a:t>model_ws=ws)</a:t>
            </a:r>
          </a:p>
          <a:p>
            <a:r>
              <a:rPr lang="LID4096" dirty="0"/>
              <a:t>riv = flopy.</a:t>
            </a:r>
            <a:r>
              <a:rPr lang="LID4096" dirty="0">
                <a:solidFill>
                  <a:srgbClr val="FF0000"/>
                </a:solidFill>
              </a:rPr>
              <a:t>modflow.ModflowRiv</a:t>
            </a:r>
            <a:r>
              <a:rPr lang="LID4096" dirty="0"/>
              <a:t>(m, stress_period_data=stress_period_data)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CC011-CB0E-6064-1E63-22AAA77F391F}"/>
              </a:ext>
            </a:extLst>
          </p:cNvPr>
          <p:cNvSpPr txBox="1"/>
          <p:nvPr/>
        </p:nvSpPr>
        <p:spPr>
          <a:xfrm>
            <a:off x="189900" y="1336218"/>
            <a:ext cx="9623834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B050"/>
                </a:solidFill>
              </a:rPr>
              <a:t>wsl = data_path / "uspb" / "flopy“</a:t>
            </a:r>
            <a:endParaRPr lang="pt-BR" dirty="0">
              <a:solidFill>
                <a:srgbClr val="00B050"/>
              </a:solidFill>
            </a:endParaRPr>
          </a:p>
          <a:p>
            <a:endParaRPr lang="LID4096" dirty="0"/>
          </a:p>
          <a:p>
            <a:r>
              <a:rPr lang="LID4096" dirty="0"/>
              <a:t>ml = flopy.</a:t>
            </a:r>
            <a:r>
              <a:rPr lang="LID4096" dirty="0">
                <a:solidFill>
                  <a:srgbClr val="FF0000"/>
                </a:solidFill>
              </a:rPr>
              <a:t>modflow.Modflow</a:t>
            </a:r>
            <a:r>
              <a:rPr lang="LID4096" dirty="0"/>
              <a:t>.</a:t>
            </a:r>
            <a:r>
              <a:rPr lang="LID4096" b="1" dirty="0">
                <a:solidFill>
                  <a:srgbClr val="0000FF"/>
                </a:solidFill>
              </a:rPr>
              <a:t>load</a:t>
            </a:r>
            <a:r>
              <a:rPr lang="LID4096" dirty="0"/>
              <a:t>("DG.nam", model_ws=wsl, verbose=False)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D0F74-AC07-898B-80C0-88F28818F464}"/>
              </a:ext>
            </a:extLst>
          </p:cNvPr>
          <p:cNvSpPr txBox="1"/>
          <p:nvPr/>
        </p:nvSpPr>
        <p:spPr>
          <a:xfrm>
            <a:off x="423251" y="4108089"/>
            <a:ext cx="214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B050"/>
                </a:solidFill>
              </a:rPr>
              <a:t>m.write_input()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7014F9-70AC-1C01-6CD3-607D9CA623AF}"/>
              </a:ext>
            </a:extLst>
          </p:cNvPr>
          <p:cNvSpPr txBox="1"/>
          <p:nvPr/>
        </p:nvSpPr>
        <p:spPr>
          <a:xfrm>
            <a:off x="423251" y="4365794"/>
            <a:ext cx="214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B050"/>
                </a:solidFill>
              </a:rPr>
              <a:t>m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36C0EA9E-DC68-AB21-C048-60CCE820D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943" y="4489930"/>
            <a:ext cx="6165632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MODFLOW </a:t>
            </a:r>
            <a:r>
              <a:rPr kumimoji="0" lang="pt-BR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LID4096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 layer(s) </a:t>
            </a:r>
            <a:r>
              <a:rPr kumimoji="0" lang="pt-BR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LID4096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 row(s) </a:t>
            </a:r>
            <a:r>
              <a:rPr kumimoji="0" lang="pt-BR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LID4096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 column(s) </a:t>
            </a:r>
            <a:r>
              <a:rPr kumimoji="0" lang="pt-BR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	</a:t>
            </a:r>
            <a:r>
              <a:rPr kumimoji="0" lang="LID4096" altLang="LID4096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 stress period(s)</a:t>
            </a:r>
            <a:endParaRPr kumimoji="0" lang="LID4096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47B1F-AD2F-50CE-AAD2-4F9822A15F5A}"/>
              </a:ext>
            </a:extLst>
          </p:cNvPr>
          <p:cNvSpPr txBox="1"/>
          <p:nvPr/>
        </p:nvSpPr>
        <p:spPr>
          <a:xfrm>
            <a:off x="189899" y="361176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dis = flopy.</a:t>
            </a:r>
            <a:r>
              <a:rPr lang="LID4096" dirty="0">
                <a:solidFill>
                  <a:srgbClr val="FF0000"/>
                </a:solidFill>
              </a:rPr>
              <a:t>modflow.Modflow</a:t>
            </a:r>
            <a:r>
              <a:rPr lang="LID4096" dirty="0"/>
              <a:t>Dis(m, nper=3)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76E0D7-459F-CFB4-36F1-5313C362FA18}"/>
              </a:ext>
            </a:extLst>
          </p:cNvPr>
          <p:cNvSpPr txBox="1"/>
          <p:nvPr/>
        </p:nvSpPr>
        <p:spPr>
          <a:xfrm>
            <a:off x="189899" y="2456603"/>
            <a:ext cx="6201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B050"/>
                </a:solidFill>
              </a:rPr>
              <a:t>ws = "./tempIN/FOLDER-A" </a:t>
            </a:r>
          </a:p>
          <a:p>
            <a:r>
              <a:rPr lang="LID4096" dirty="0">
                <a:solidFill>
                  <a:srgbClr val="00B050"/>
                </a:solidFill>
              </a:rPr>
              <a:t>name = "m"   # Simulation Name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6A2B37-B0FF-3238-F87A-97D7E64E4CBC}"/>
              </a:ext>
            </a:extLst>
          </p:cNvPr>
          <p:cNvSpPr txBox="1"/>
          <p:nvPr/>
        </p:nvSpPr>
        <p:spPr>
          <a:xfrm>
            <a:off x="423251" y="4672413"/>
            <a:ext cx="3868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B050"/>
                </a:solidFill>
              </a:rPr>
              <a:t>!head -n 10 'tempIN/FOLDER-A/b.riv'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F67394-4791-1938-41A2-9CC5252CC107}"/>
              </a:ext>
            </a:extLst>
          </p:cNvPr>
          <p:cNvSpPr txBox="1"/>
          <p:nvPr/>
        </p:nvSpPr>
        <p:spPr>
          <a:xfrm>
            <a:off x="106266" y="505532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FF0000"/>
                </a:solidFill>
              </a:rPr>
              <a:t>riv_dtype = </a:t>
            </a:r>
            <a:r>
              <a:rPr lang="LID4096" dirty="0"/>
              <a:t>flopy.</a:t>
            </a:r>
            <a:r>
              <a:rPr lang="LID4096" dirty="0">
                <a:solidFill>
                  <a:srgbClr val="FF0000"/>
                </a:solidFill>
              </a:rPr>
              <a:t>modflow.ModflowRiv</a:t>
            </a:r>
            <a:r>
              <a:rPr lang="LID4096" dirty="0"/>
              <a:t>.get_default_dtype()</a:t>
            </a:r>
          </a:p>
          <a:p>
            <a:r>
              <a:rPr lang="LID4096" dirty="0">
                <a:solidFill>
                  <a:srgbClr val="FF0000"/>
                </a:solidFill>
              </a:rPr>
              <a:t>print(riv_dtype)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BB806E-29EE-8465-2A7A-A83AA1162669}"/>
              </a:ext>
            </a:extLst>
          </p:cNvPr>
          <p:cNvSpPr txBox="1"/>
          <p:nvPr/>
        </p:nvSpPr>
        <p:spPr>
          <a:xfrm>
            <a:off x="5941525" y="5241705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600" dirty="0"/>
              <a:t>fpm.Modflow</a:t>
            </a:r>
            <a:r>
              <a:rPr lang="LID4096" sz="1600" dirty="0">
                <a:solidFill>
                  <a:srgbClr val="0000FF"/>
                </a:solidFill>
              </a:rPr>
              <a:t>Wel(model, stress_period_data=lrcQ)</a:t>
            </a:r>
            <a:endParaRPr lang="LID4096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77C56A-DFD8-0185-5612-B23148EB0741}"/>
              </a:ext>
            </a:extLst>
          </p:cNvPr>
          <p:cNvSpPr txBox="1"/>
          <p:nvPr/>
        </p:nvSpPr>
        <p:spPr>
          <a:xfrm>
            <a:off x="5495453" y="6153750"/>
            <a:ext cx="6214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FF0000"/>
                </a:solidFill>
              </a:rPr>
              <a:t>wel</a:t>
            </a:r>
            <a:r>
              <a:rPr lang="LID4096" sz="1600" dirty="0">
                <a:solidFill>
                  <a:srgbClr val="FF0000"/>
                </a:solidFill>
              </a:rPr>
              <a:t>_dtype = </a:t>
            </a:r>
            <a:r>
              <a:rPr lang="LID4096" sz="1600" dirty="0"/>
              <a:t>flopy.</a:t>
            </a:r>
            <a:r>
              <a:rPr lang="LID4096" sz="1600" dirty="0">
                <a:solidFill>
                  <a:srgbClr val="FF0000"/>
                </a:solidFill>
              </a:rPr>
              <a:t>modflow.Modflow</a:t>
            </a:r>
            <a:r>
              <a:rPr lang="pt-BR" sz="1600" dirty="0" err="1">
                <a:solidFill>
                  <a:srgbClr val="FF0000"/>
                </a:solidFill>
              </a:rPr>
              <a:t>Wel</a:t>
            </a:r>
            <a:r>
              <a:rPr lang="LID4096" sz="1600" dirty="0"/>
              <a:t>.get_default_dtype()</a:t>
            </a:r>
          </a:p>
          <a:p>
            <a:r>
              <a:rPr lang="LID4096" sz="1600" dirty="0">
                <a:solidFill>
                  <a:srgbClr val="FF0000"/>
                </a:solidFill>
              </a:rPr>
              <a:t>print(</a:t>
            </a:r>
            <a:r>
              <a:rPr lang="pt-BR" sz="1600" dirty="0" err="1">
                <a:solidFill>
                  <a:srgbClr val="FF0000"/>
                </a:solidFill>
              </a:rPr>
              <a:t>wel</a:t>
            </a:r>
            <a:r>
              <a:rPr lang="LID4096" sz="1600" dirty="0">
                <a:solidFill>
                  <a:srgbClr val="FF0000"/>
                </a:solidFill>
              </a:rPr>
              <a:t>_dtype)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6A8109-4862-5A84-9E08-260B873C84EC}"/>
              </a:ext>
            </a:extLst>
          </p:cNvPr>
          <p:cNvSpPr txBox="1"/>
          <p:nvPr/>
        </p:nvSpPr>
        <p:spPr>
          <a:xfrm>
            <a:off x="5276928" y="5799898"/>
            <a:ext cx="71816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/>
              <a:t>Wel</a:t>
            </a:r>
            <a:r>
              <a:rPr lang="LID4096" sz="1600" dirty="0"/>
              <a:t> = flopy.</a:t>
            </a:r>
            <a:r>
              <a:rPr lang="LID4096" sz="1600" dirty="0">
                <a:solidFill>
                  <a:srgbClr val="FF0000"/>
                </a:solidFill>
              </a:rPr>
              <a:t>modflow.Modflow</a:t>
            </a:r>
            <a:r>
              <a:rPr lang="pt-BR" sz="1600" dirty="0" err="1">
                <a:solidFill>
                  <a:srgbClr val="FF0000"/>
                </a:solidFill>
              </a:rPr>
              <a:t>Wel</a:t>
            </a:r>
            <a:r>
              <a:rPr lang="LID4096" sz="1600" dirty="0"/>
              <a:t>(m, stress_period_data=stress_period_data)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5FAC2-C9E9-1DAD-0157-1EEEF4AD978C}"/>
              </a:ext>
            </a:extLst>
          </p:cNvPr>
          <p:cNvSpPr txBox="1"/>
          <p:nvPr/>
        </p:nvSpPr>
        <p:spPr>
          <a:xfrm>
            <a:off x="9265920" y="2520653"/>
            <a:ext cx="215972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= </a:t>
            </a:r>
            <a:r>
              <a:rPr lang="LID4096" dirty="0"/>
              <a:t>mf6.ModflowGwf</a:t>
            </a:r>
            <a:r>
              <a:rPr lang="pt-BR" dirty="0"/>
              <a:t>(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9E895-F6BF-C99D-1290-C8B8D2557895}"/>
              </a:ext>
            </a:extLst>
          </p:cNvPr>
          <p:cNvSpPr txBox="1"/>
          <p:nvPr/>
        </p:nvSpPr>
        <p:spPr>
          <a:xfrm>
            <a:off x="189899" y="92872"/>
            <a:ext cx="2654351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LID4096" sz="1400" dirty="0"/>
              <a:t>/02_Flopy_1_2_3__/</a:t>
            </a:r>
            <a:endParaRPr lang="pt-BR" sz="1400" dirty="0"/>
          </a:p>
          <a:p>
            <a:r>
              <a:rPr lang="en-GB" sz="1400" dirty="0"/>
              <a:t>a___.</a:t>
            </a:r>
            <a:r>
              <a:rPr lang="en-GB" sz="1400" dirty="0" err="1"/>
              <a:t>docs_Notebooks</a:t>
            </a:r>
            <a:r>
              <a:rPr lang="en-GB" sz="1400" dirty="0"/>
              <a:t>/</a:t>
            </a:r>
          </a:p>
          <a:p>
            <a:r>
              <a:rPr lang="en-GB" sz="1400" dirty="0"/>
              <a:t>03_mf_boundaries_tutorial/</a:t>
            </a:r>
          </a:p>
          <a:p>
            <a:r>
              <a:rPr lang="en-GB" sz="1400" dirty="0"/>
              <a:t>03/</a:t>
            </a:r>
          </a:p>
          <a:p>
            <a:r>
              <a:rPr lang="en-GB" sz="1400" dirty="0"/>
              <a:t>3mf_boundaries_tutorial.ipynb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735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D30434-708E-C94A-BB85-51BBFEE30B8F}"/>
              </a:ext>
            </a:extLst>
          </p:cNvPr>
          <p:cNvSpPr txBox="1"/>
          <p:nvPr/>
        </p:nvSpPr>
        <p:spPr>
          <a:xfrm>
            <a:off x="660903" y="2254497"/>
            <a:ext cx="84559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flopy.</a:t>
            </a:r>
            <a:r>
              <a:rPr lang="LID4096" b="1" dirty="0">
                <a:solidFill>
                  <a:srgbClr val="FF0000"/>
                </a:solidFill>
              </a:rPr>
              <a:t>mf6.Modflow</a:t>
            </a:r>
            <a:r>
              <a:rPr lang="LID4096" sz="2000" b="1" dirty="0">
                <a:solidFill>
                  <a:srgbClr val="0000FF"/>
                </a:solidFill>
              </a:rPr>
              <a:t>Gwfnpf</a:t>
            </a:r>
            <a:r>
              <a:rPr lang="LID4096" dirty="0"/>
              <a:t>(gwf, save_specific_discharge=True)</a:t>
            </a:r>
          </a:p>
          <a:p>
            <a:r>
              <a:rPr lang="LID4096" dirty="0"/>
              <a:t>flopy.</a:t>
            </a:r>
            <a:r>
              <a:rPr lang="LID4096" b="1" dirty="0">
                <a:solidFill>
                  <a:srgbClr val="FF0000"/>
                </a:solidFill>
              </a:rPr>
              <a:t>mf6.Modflow</a:t>
            </a:r>
            <a:r>
              <a:rPr lang="LID4096" sz="2000" b="1" dirty="0">
                <a:solidFill>
                  <a:srgbClr val="0000FF"/>
                </a:solidFill>
              </a:rPr>
              <a:t>Gwfchd</a:t>
            </a:r>
            <a:r>
              <a:rPr lang="LID4096" dirty="0"/>
              <a:t>(gwf, stress_period_data=[[(0, 0, 0), 1.0], [(2, 3, 4), 0.0]])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E23B94-20A8-47F1-D17D-C4B532F9AF93}"/>
              </a:ext>
            </a:extLst>
          </p:cNvPr>
          <p:cNvGrpSpPr>
            <a:grpSpLocks noChangeAspect="1"/>
          </p:cNvGrpSpPr>
          <p:nvPr/>
        </p:nvGrpSpPr>
        <p:grpSpPr>
          <a:xfrm>
            <a:off x="252551" y="269966"/>
            <a:ext cx="8455938" cy="1834975"/>
            <a:chOff x="5102689" y="574861"/>
            <a:chExt cx="6010855" cy="1304381"/>
          </a:xfrm>
          <a:noFill/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CE532D7-4582-0DA7-8900-9DDF42E9A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011" t="62672" r="10651" b="2812"/>
            <a:stretch/>
          </p:blipFill>
          <p:spPr>
            <a:xfrm>
              <a:off x="5102689" y="574861"/>
              <a:ext cx="6010855" cy="1304381"/>
            </a:xfrm>
            <a:prstGeom prst="rect">
              <a:avLst/>
            </a:prstGeom>
            <a:grpFill/>
            <a:ln w="28575"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C50CBA-CCE6-86C6-F49B-6CADDA9799E1}"/>
                </a:ext>
              </a:extLst>
            </p:cNvPr>
            <p:cNvSpPr/>
            <p:nvPr/>
          </p:nvSpPr>
          <p:spPr>
            <a:xfrm>
              <a:off x="5947954" y="627017"/>
              <a:ext cx="1236617" cy="156755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821814-C340-3872-D73D-AF0EF47A4CA4}"/>
                </a:ext>
              </a:extLst>
            </p:cNvPr>
            <p:cNvSpPr/>
            <p:nvPr/>
          </p:nvSpPr>
          <p:spPr>
            <a:xfrm>
              <a:off x="6096000" y="783772"/>
              <a:ext cx="1506583" cy="156755"/>
            </a:xfrm>
            <a:prstGeom prst="rect">
              <a:avLst/>
            </a:prstGeom>
            <a:grp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5848BA9-5969-8998-D50F-686A177143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5" t="3111" b="1897"/>
          <a:stretch/>
        </p:blipFill>
        <p:spPr>
          <a:xfrm>
            <a:off x="252551" y="3204754"/>
            <a:ext cx="3123923" cy="2833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5D080-66A0-4B16-92E7-6B3F86F7CB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67" b="19880"/>
          <a:stretch/>
        </p:blipFill>
        <p:spPr>
          <a:xfrm>
            <a:off x="1375954" y="6190912"/>
            <a:ext cx="10244546" cy="465517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541FB43-CDA9-1841-E888-532BC09CB326}"/>
              </a:ext>
            </a:extLst>
          </p:cNvPr>
          <p:cNvSpPr/>
          <p:nvPr/>
        </p:nvSpPr>
        <p:spPr>
          <a:xfrm>
            <a:off x="8951377" y="5829481"/>
            <a:ext cx="330926" cy="209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B5982A6-BF74-135D-E9C0-C238A184196C}"/>
              </a:ext>
            </a:extLst>
          </p:cNvPr>
          <p:cNvSpPr/>
          <p:nvPr/>
        </p:nvSpPr>
        <p:spPr>
          <a:xfrm>
            <a:off x="9858103" y="5829481"/>
            <a:ext cx="330926" cy="209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D58BE-4631-4487-4CD8-9E3F565EA076}"/>
              </a:ext>
            </a:extLst>
          </p:cNvPr>
          <p:cNvSpPr txBox="1"/>
          <p:nvPr/>
        </p:nvSpPr>
        <p:spPr>
          <a:xfrm>
            <a:off x="8382000" y="3580324"/>
            <a:ext cx="3614057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LID4096" dirty="0"/>
              <a:t>/04_Pleasant_Lake/</a:t>
            </a:r>
            <a:endParaRPr lang="pt-BR" dirty="0"/>
          </a:p>
          <a:p>
            <a:r>
              <a:rPr lang="LID4096" dirty="0"/>
              <a:t>02/</a:t>
            </a:r>
            <a:endParaRPr lang="pt-BR" dirty="0"/>
          </a:p>
          <a:p>
            <a:r>
              <a:rPr lang="LID4096" dirty="0"/>
              <a:t>pleasant-lake-flopy-example.ipynb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34EF33-549B-2A53-12D0-FD723DC8D668}"/>
              </a:ext>
            </a:extLst>
          </p:cNvPr>
          <p:cNvSpPr txBox="1"/>
          <p:nvPr/>
        </p:nvSpPr>
        <p:spPr>
          <a:xfrm>
            <a:off x="4192185" y="5298360"/>
            <a:ext cx="215972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= </a:t>
            </a:r>
            <a:r>
              <a:rPr lang="LID4096" dirty="0"/>
              <a:t>mf6.ModflowGwf</a:t>
            </a:r>
            <a:r>
              <a:rPr lang="pt-BR" dirty="0"/>
              <a:t>(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6593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D687BB9A-C66E-05D4-7FB8-0D0A526A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49" y="5329690"/>
            <a:ext cx="9715500" cy="21907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8C6E0A4-8271-5B61-A056-41F0F795CD7F}"/>
              </a:ext>
            </a:extLst>
          </p:cNvPr>
          <p:cNvGrpSpPr/>
          <p:nvPr/>
        </p:nvGrpSpPr>
        <p:grpSpPr>
          <a:xfrm>
            <a:off x="215946" y="166709"/>
            <a:ext cx="10878773" cy="4403104"/>
            <a:chOff x="477203" y="1464286"/>
            <a:chExt cx="10878773" cy="44031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F9EDDDF-D430-D270-B69A-2E85BA7CD8E3}"/>
                </a:ext>
              </a:extLst>
            </p:cNvPr>
            <p:cNvGrpSpPr/>
            <p:nvPr/>
          </p:nvGrpSpPr>
          <p:grpSpPr>
            <a:xfrm>
              <a:off x="477203" y="3429000"/>
              <a:ext cx="10878773" cy="1149532"/>
              <a:chOff x="764587" y="966652"/>
              <a:chExt cx="10878773" cy="114953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7BCF5B7-1ED8-D158-1BC3-2E0392293460}"/>
                  </a:ext>
                </a:extLst>
              </p:cNvPr>
              <p:cNvSpPr/>
              <p:nvPr/>
            </p:nvSpPr>
            <p:spPr>
              <a:xfrm>
                <a:off x="764587" y="966652"/>
                <a:ext cx="10878773" cy="11495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A4A74F0-405F-8F84-5A82-5F6A8119C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920" y="1068568"/>
                <a:ext cx="7515225" cy="314325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CFFB1AC-DB8E-F418-132C-CB95427E7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67692"/>
              <a:stretch/>
            </p:blipFill>
            <p:spPr>
              <a:xfrm>
                <a:off x="1043259" y="1382893"/>
                <a:ext cx="7591425" cy="20002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C9D130F-8C19-1B96-ADED-643D14376D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1338" y="1609179"/>
                <a:ext cx="10506075" cy="2286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7EF5C28-C229-91E4-49DA-426DC0903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20944" b="27993"/>
              <a:stretch/>
            </p:blipFill>
            <p:spPr>
              <a:xfrm>
                <a:off x="895211" y="1809204"/>
                <a:ext cx="8810625" cy="228600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F1A777-C320-1D99-A3EF-CCE5E53DCFAC}"/>
                </a:ext>
              </a:extLst>
            </p:cNvPr>
            <p:cNvGrpSpPr/>
            <p:nvPr/>
          </p:nvGrpSpPr>
          <p:grpSpPr>
            <a:xfrm>
              <a:off x="477203" y="1464286"/>
              <a:ext cx="8814845" cy="1988250"/>
              <a:chOff x="755875" y="841534"/>
              <a:chExt cx="8814845" cy="198825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BCCB447-1B96-3A70-53F6-9A4DC1922889}"/>
                  </a:ext>
                </a:extLst>
              </p:cNvPr>
              <p:cNvSpPr/>
              <p:nvPr/>
            </p:nvSpPr>
            <p:spPr>
              <a:xfrm>
                <a:off x="755875" y="841534"/>
                <a:ext cx="8814845" cy="8740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B8AD9E4-7F58-E96E-828D-C6FE757A95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1664" y="917394"/>
                <a:ext cx="8362950" cy="28575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A701D1E-7CA6-F8AE-6984-77D23AE15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664" y="1200285"/>
                <a:ext cx="7439025" cy="4191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3DB496-F1A0-7457-3A69-F2E131ACACF2}"/>
                  </a:ext>
                </a:extLst>
              </p:cNvPr>
              <p:cNvSpPr txBox="1"/>
              <p:nvPr/>
            </p:nvSpPr>
            <p:spPr>
              <a:xfrm>
                <a:off x="755875" y="1629455"/>
                <a:ext cx="6096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ID4096" dirty="0">
                    <a:solidFill>
                      <a:srgbClr val="00B050"/>
                    </a:solidFill>
                  </a:rPr>
                  <a:t>sim.write_simulation() </a:t>
                </a:r>
              </a:p>
              <a:p>
                <a:r>
                  <a:rPr lang="LID4096" dirty="0">
                    <a:solidFill>
                      <a:srgbClr val="00B050"/>
                    </a:solidFill>
                  </a:rPr>
                  <a:t>mfsim.nam</a:t>
                </a:r>
              </a:p>
              <a:p>
                <a:r>
                  <a:rPr lang="LID4096" dirty="0">
                    <a:solidFill>
                      <a:srgbClr val="00B050"/>
                    </a:solidFill>
                  </a:rPr>
                  <a:t>pleasant.ims</a:t>
                </a:r>
              </a:p>
              <a:p>
                <a:r>
                  <a:rPr lang="LID4096" dirty="0">
                    <a:solidFill>
                      <a:srgbClr val="00B050"/>
                    </a:solidFill>
                  </a:rPr>
                  <a:t>pleasant.tdis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6CDD8B-4F70-F29D-84B4-2E3ED869EAAC}"/>
                </a:ext>
              </a:extLst>
            </p:cNvPr>
            <p:cNvSpPr txBox="1"/>
            <p:nvPr/>
          </p:nvSpPr>
          <p:spPr>
            <a:xfrm>
              <a:off x="477203" y="5221059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LID4096"/>
              </a:defPPr>
              <a:lvl1pPr>
                <a:defRPr>
                  <a:solidFill>
                    <a:srgbClr val="00B050"/>
                  </a:solidFill>
                </a:defRPr>
              </a:lvl1pPr>
            </a:lstStyle>
            <a:p>
              <a:r>
                <a:rPr lang="LID4096" dirty="0"/>
                <a:t>	new - 	06_nam</a:t>
              </a:r>
            </a:p>
            <a:p>
              <a:r>
                <a:rPr lang="LID4096" dirty="0"/>
                <a:t>Pleaseant   	01_dis, 02_ims, 03_npf, 04_oc, 05_tdis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E322243-9DFB-4C97-ED80-264604E010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237" y="3365455"/>
            <a:ext cx="3362325" cy="3333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52E7BC-F2DD-42A5-09DB-9CAEFA4554F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15" t="3111" b="1897"/>
          <a:stretch/>
        </p:blipFill>
        <p:spPr>
          <a:xfrm>
            <a:off x="8654685" y="3823136"/>
            <a:ext cx="3123923" cy="2833734"/>
          </a:xfrm>
          <a:prstGeom prst="rect">
            <a:avLst/>
          </a:prstGeom>
        </p:spPr>
      </p:pic>
      <p:sp>
        <p:nvSpPr>
          <p:cNvPr id="28" name="Arrow: Down 27">
            <a:extLst>
              <a:ext uri="{FF2B5EF4-FFF2-40B4-BE49-F238E27FC236}">
                <a16:creationId xmlns:a16="http://schemas.microsoft.com/office/drawing/2014/main" id="{0B5BD92F-AA91-E1B5-1E49-E7BA8A32E93D}"/>
              </a:ext>
            </a:extLst>
          </p:cNvPr>
          <p:cNvSpPr/>
          <p:nvPr/>
        </p:nvSpPr>
        <p:spPr>
          <a:xfrm rot="16200000">
            <a:off x="8228566" y="5707561"/>
            <a:ext cx="330926" cy="209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71972224-62D5-5375-83DC-4C08EC566240}"/>
              </a:ext>
            </a:extLst>
          </p:cNvPr>
          <p:cNvSpPr/>
          <p:nvPr/>
        </p:nvSpPr>
        <p:spPr>
          <a:xfrm rot="16200000">
            <a:off x="50483" y="3428864"/>
            <a:ext cx="330926" cy="209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F5B7989-A8C4-9358-AF5E-1FFBF57DEC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449" y="4783715"/>
            <a:ext cx="6200775" cy="428625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83F907E2-1DB2-E7AB-0750-ED8F418EAC6E}"/>
              </a:ext>
            </a:extLst>
          </p:cNvPr>
          <p:cNvSpPr/>
          <p:nvPr/>
        </p:nvSpPr>
        <p:spPr>
          <a:xfrm rot="16200000">
            <a:off x="8228566" y="6076770"/>
            <a:ext cx="330926" cy="209006"/>
          </a:xfrm>
          <a:prstGeom prst="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7F1E9C0D-E12A-BD5D-6195-2FF859445F77}"/>
              </a:ext>
            </a:extLst>
          </p:cNvPr>
          <p:cNvSpPr/>
          <p:nvPr/>
        </p:nvSpPr>
        <p:spPr>
          <a:xfrm rot="16200000">
            <a:off x="-14099" y="4844675"/>
            <a:ext cx="330926" cy="209006"/>
          </a:xfrm>
          <a:prstGeom prst="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24924E-A717-3D21-B6BF-437797A864CD}"/>
              </a:ext>
            </a:extLst>
          </p:cNvPr>
          <p:cNvSpPr txBox="1"/>
          <p:nvPr/>
        </p:nvSpPr>
        <p:spPr>
          <a:xfrm>
            <a:off x="7857445" y="2536704"/>
            <a:ext cx="1732936" cy="188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LID4096" dirty="0"/>
              <a:t># output control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748BDE-F814-5616-333F-7BC283A1F11D}"/>
              </a:ext>
            </a:extLst>
          </p:cNvPr>
          <p:cNvSpPr txBox="1"/>
          <p:nvPr/>
        </p:nvSpPr>
        <p:spPr>
          <a:xfrm>
            <a:off x="3874350" y="3418406"/>
            <a:ext cx="1732936" cy="188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dirty="0"/>
              <a:t># initial conditions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211AB1-47F8-7C30-8331-581FF9F6E109}"/>
              </a:ext>
            </a:extLst>
          </p:cNvPr>
          <p:cNvSpPr txBox="1"/>
          <p:nvPr/>
        </p:nvSpPr>
        <p:spPr>
          <a:xfrm>
            <a:off x="6556590" y="4796424"/>
            <a:ext cx="584439" cy="201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dirty="0"/>
              <a:t># BC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033003-BD33-7BF4-ECDF-CCAD273C03E4}"/>
              </a:ext>
            </a:extLst>
          </p:cNvPr>
          <p:cNvSpPr txBox="1"/>
          <p:nvPr/>
        </p:nvSpPr>
        <p:spPr>
          <a:xfrm>
            <a:off x="6556590" y="5010737"/>
            <a:ext cx="584439" cy="201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dirty="0"/>
              <a:t># BC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6C6648-CE75-3FD9-42C0-D763E2FD6CA5}"/>
              </a:ext>
            </a:extLst>
          </p:cNvPr>
          <p:cNvSpPr txBox="1"/>
          <p:nvPr/>
        </p:nvSpPr>
        <p:spPr>
          <a:xfrm>
            <a:off x="7614346" y="5069412"/>
            <a:ext cx="584439" cy="201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dirty="0"/>
              <a:t># BC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6C93C4-3C12-5203-666D-EFE9C4593893}"/>
              </a:ext>
            </a:extLst>
          </p:cNvPr>
          <p:cNvSpPr txBox="1"/>
          <p:nvPr/>
        </p:nvSpPr>
        <p:spPr>
          <a:xfrm>
            <a:off x="10519473" y="2737210"/>
            <a:ext cx="1429170" cy="228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dirty="0"/>
              <a:t># discretization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8534D7-0C8A-15B5-D572-A603BFA861B9}"/>
              </a:ext>
            </a:extLst>
          </p:cNvPr>
          <p:cNvSpPr txBox="1"/>
          <p:nvPr/>
        </p:nvSpPr>
        <p:spPr>
          <a:xfrm>
            <a:off x="9116423" y="3027314"/>
            <a:ext cx="1429170" cy="228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dirty="0"/>
              <a:t># Layers  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9C143B-DA0B-735E-5C69-40480A000380}"/>
              </a:ext>
            </a:extLst>
          </p:cNvPr>
          <p:cNvSpPr txBox="1"/>
          <p:nvPr/>
        </p:nvSpPr>
        <p:spPr>
          <a:xfrm>
            <a:off x="8063584" y="547421"/>
            <a:ext cx="1429170" cy="228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dirty="0"/>
              <a:t># t DIS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D24E2-7DED-421D-268E-6D08ECAA4499}"/>
              </a:ext>
            </a:extLst>
          </p:cNvPr>
          <p:cNvSpPr txBox="1"/>
          <p:nvPr/>
        </p:nvSpPr>
        <p:spPr>
          <a:xfrm>
            <a:off x="2999283" y="1391353"/>
            <a:ext cx="3096717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anchor="ctr" anchorCtr="0">
            <a:noAutofit/>
          </a:bodyPr>
          <a:lstStyle/>
          <a:p>
            <a:r>
              <a:rPr lang="pt-BR" sz="2000" dirty="0"/>
              <a:t>= </a:t>
            </a:r>
            <a:r>
              <a:rPr lang="LID4096" sz="2000" dirty="0"/>
              <a:t>mf6.ModflowGwf</a:t>
            </a:r>
            <a:r>
              <a:rPr lang="pt-BR" sz="2000" dirty="0"/>
              <a:t> (  .   )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15821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DEE9E2B8-4E34-B3A6-98BF-D6B66F3C30B7}"/>
              </a:ext>
            </a:extLst>
          </p:cNvPr>
          <p:cNvGrpSpPr>
            <a:grpSpLocks noChangeAspect="1"/>
          </p:cNvGrpSpPr>
          <p:nvPr/>
        </p:nvGrpSpPr>
        <p:grpSpPr>
          <a:xfrm>
            <a:off x="7913444" y="1441300"/>
            <a:ext cx="3917884" cy="3447761"/>
            <a:chOff x="6937184" y="1957155"/>
            <a:chExt cx="3163174" cy="2783612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A3E17D9-D718-1BE8-01D4-23DE4E78A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8058" y="2397617"/>
              <a:ext cx="3162300" cy="234315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01AD5D0-7032-723A-68AB-FFBABA598ACB}"/>
                </a:ext>
              </a:extLst>
            </p:cNvPr>
            <p:cNvSpPr txBox="1"/>
            <p:nvPr/>
          </p:nvSpPr>
          <p:spPr>
            <a:xfrm>
              <a:off x="6937184" y="1957155"/>
              <a:ext cx="935926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2400" dirty="0"/>
                <a:t>flowPy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1465C34-DA8C-20CB-F767-87D378BCB81A}"/>
              </a:ext>
            </a:extLst>
          </p:cNvPr>
          <p:cNvSpPr txBox="1"/>
          <p:nvPr/>
        </p:nvSpPr>
        <p:spPr>
          <a:xfrm>
            <a:off x="7278830" y="6686026"/>
            <a:ext cx="49551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600" dirty="0"/>
              <a:t>/</a:t>
            </a:r>
            <a:r>
              <a:rPr lang="LID4096" sz="600" dirty="0"/>
              <a:t>part0_02_intro_to_freyberg__W_inprogress/intro_freyberg_model_02_02.ipynb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CB94D2-F7C5-1AAB-DA6C-2FF17E749186}"/>
              </a:ext>
            </a:extLst>
          </p:cNvPr>
          <p:cNvGrpSpPr/>
          <p:nvPr/>
        </p:nvGrpSpPr>
        <p:grpSpPr>
          <a:xfrm>
            <a:off x="329655" y="3428999"/>
            <a:ext cx="2120537" cy="3070689"/>
            <a:chOff x="183158" y="3428051"/>
            <a:chExt cx="2120537" cy="307068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6AF4429-49EA-8BB5-AC2E-1CB0C0C86FCA}"/>
                </a:ext>
              </a:extLst>
            </p:cNvPr>
            <p:cNvGrpSpPr/>
            <p:nvPr/>
          </p:nvGrpSpPr>
          <p:grpSpPr>
            <a:xfrm>
              <a:off x="183158" y="3939392"/>
              <a:ext cx="2120537" cy="2559348"/>
              <a:chOff x="100205" y="4056379"/>
              <a:chExt cx="2120537" cy="255934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ABBBC2B-E1F1-27AF-C3AC-48D4B4388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205" y="4056379"/>
                <a:ext cx="2120537" cy="2559348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7E30B6-7FBD-33E9-CB03-87C74BE9E0BC}"/>
                  </a:ext>
                </a:extLst>
              </p:cNvPr>
              <p:cNvSpPr txBox="1"/>
              <p:nvPr/>
            </p:nvSpPr>
            <p:spPr>
              <a:xfrm>
                <a:off x="1456565" y="5950059"/>
                <a:ext cx="764177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M</a:t>
                </a:r>
                <a:r>
                  <a:rPr lang="LID4096" dirty="0"/>
                  <a:t>f6</a:t>
                </a:r>
                <a:endParaRPr lang="pt-BR" dirty="0"/>
              </a:p>
              <a:p>
                <a:pPr algn="ctr"/>
                <a:r>
                  <a:rPr lang="pt-BR" dirty="0"/>
                  <a:t>Mp7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113E39-A510-4DB8-C90F-E64720CFD517}"/>
                </a:ext>
              </a:extLst>
            </p:cNvPr>
            <p:cNvSpPr txBox="1"/>
            <p:nvPr/>
          </p:nvSpPr>
          <p:spPr>
            <a:xfrm>
              <a:off x="183158" y="3428051"/>
              <a:ext cx="212053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rgbClr val="FF0000"/>
                  </a:solidFill>
                </a:rPr>
                <a:t>Folder</a:t>
              </a:r>
              <a:r>
                <a:rPr lang="pt-BR" dirty="0"/>
                <a:t> </a:t>
              </a:r>
              <a:r>
                <a:rPr lang="LID4096" dirty="0"/>
                <a:t>freyberg_mf6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6F76804-E537-C371-A76F-BB563AD5ABD7}"/>
              </a:ext>
            </a:extLst>
          </p:cNvPr>
          <p:cNvSpPr txBox="1"/>
          <p:nvPr/>
        </p:nvSpPr>
        <p:spPr>
          <a:xfrm>
            <a:off x="360673" y="2152373"/>
            <a:ext cx="1727758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/>
            </a:lvl1pPr>
          </a:lstStyle>
          <a:p>
            <a:pPr algn="ctr"/>
            <a:r>
              <a:rPr lang="LID4096" dirty="0"/>
              <a:t>shutil.copytree</a:t>
            </a:r>
            <a:endParaRPr lang="pt-BR" dirty="0"/>
          </a:p>
          <a:p>
            <a:pPr algn="ctr"/>
            <a:r>
              <a:rPr lang="LID4096" dirty="0"/>
              <a:t>(org_d,tmp_d)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DCB7AAE-7DC1-F84C-9112-7D38B9FE0974}"/>
              </a:ext>
            </a:extLst>
          </p:cNvPr>
          <p:cNvGrpSpPr/>
          <p:nvPr/>
        </p:nvGrpSpPr>
        <p:grpSpPr>
          <a:xfrm>
            <a:off x="2845482" y="153119"/>
            <a:ext cx="4799289" cy="6551761"/>
            <a:chOff x="2845482" y="153119"/>
            <a:chExt cx="4799289" cy="655176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B28CC79-8BBC-ED00-3F7F-2E2084F8E906}"/>
                </a:ext>
              </a:extLst>
            </p:cNvPr>
            <p:cNvGrpSpPr/>
            <p:nvPr/>
          </p:nvGrpSpPr>
          <p:grpSpPr>
            <a:xfrm>
              <a:off x="2845482" y="153119"/>
              <a:ext cx="4799289" cy="6551761"/>
              <a:chOff x="2393606" y="119005"/>
              <a:chExt cx="4799289" cy="655176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436004F-D831-0428-4F4E-B3E532139B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3606" y="119005"/>
                <a:ext cx="4311993" cy="655176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D8C6932D-BEE8-560F-4179-4F3D11BAFBD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135654">
                <a:off x="4767787" y="4112457"/>
                <a:ext cx="463326" cy="3663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1" name="Arrow: Right 30">
                <a:extLst>
                  <a:ext uri="{FF2B5EF4-FFF2-40B4-BE49-F238E27FC236}">
                    <a16:creationId xmlns:a16="http://schemas.microsoft.com/office/drawing/2014/main" id="{35DE524B-FAC3-42C7-1CD4-F0DAF71E009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135654">
                <a:off x="6729569" y="5441581"/>
                <a:ext cx="463326" cy="3663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AA5C4F07-9C12-FE67-4546-1D5E6A1A88EB}"/>
                </a:ext>
              </a:extLst>
            </p:cNvPr>
            <p:cNvSpPr>
              <a:spLocks noChangeAspect="1"/>
            </p:cNvSpPr>
            <p:nvPr/>
          </p:nvSpPr>
          <p:spPr>
            <a:xfrm rot="10135654">
              <a:off x="7181444" y="5018242"/>
              <a:ext cx="463326" cy="36635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6BEE216-D11E-2810-E97D-ABB5CBD88472}"/>
              </a:ext>
            </a:extLst>
          </p:cNvPr>
          <p:cNvSpPr/>
          <p:nvPr/>
        </p:nvSpPr>
        <p:spPr>
          <a:xfrm>
            <a:off x="3359434" y="5263412"/>
            <a:ext cx="525061" cy="232026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/>
          <a:p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6F2B9B-EC32-AD67-8F14-137EEEF6C1DA}"/>
              </a:ext>
            </a:extLst>
          </p:cNvPr>
          <p:cNvSpPr/>
          <p:nvPr/>
        </p:nvSpPr>
        <p:spPr>
          <a:xfrm>
            <a:off x="2880629" y="5662288"/>
            <a:ext cx="525061" cy="44851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/>
          <a:p>
            <a:endParaRPr lang="LID4096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76C8258-89B8-3D65-8BAC-F32BC04962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9078" b="51918"/>
          <a:stretch/>
        </p:blipFill>
        <p:spPr>
          <a:xfrm>
            <a:off x="377806" y="1649741"/>
            <a:ext cx="172775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ABCB059-8D90-0F85-18F7-D86642459529}"/>
              </a:ext>
            </a:extLst>
          </p:cNvPr>
          <p:cNvSpPr txBox="1">
            <a:spLocks noChangeAspect="1"/>
          </p:cNvSpPr>
          <p:nvPr/>
        </p:nvSpPr>
        <p:spPr>
          <a:xfrm>
            <a:off x="6620347" y="247387"/>
            <a:ext cx="39853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C5FE4F-9DFB-FAF5-1D83-7D2C23FADE80}"/>
              </a:ext>
            </a:extLst>
          </p:cNvPr>
          <p:cNvSpPr txBox="1">
            <a:spLocks noChangeAspect="1"/>
          </p:cNvSpPr>
          <p:nvPr/>
        </p:nvSpPr>
        <p:spPr>
          <a:xfrm>
            <a:off x="6620347" y="4596831"/>
            <a:ext cx="39853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46AE34-1FA9-97BA-1484-8FD49A3D0328}"/>
              </a:ext>
            </a:extLst>
          </p:cNvPr>
          <p:cNvSpPr txBox="1">
            <a:spLocks noChangeAspect="1"/>
          </p:cNvSpPr>
          <p:nvPr/>
        </p:nvSpPr>
        <p:spPr>
          <a:xfrm>
            <a:off x="6620347" y="6344238"/>
            <a:ext cx="39853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21EFD5-6B88-4B5E-8EFA-4A7A5E1A961D}"/>
              </a:ext>
            </a:extLst>
          </p:cNvPr>
          <p:cNvSpPr txBox="1"/>
          <p:nvPr/>
        </p:nvSpPr>
        <p:spPr>
          <a:xfrm>
            <a:off x="9788434" y="4197531"/>
            <a:ext cx="801189" cy="390590"/>
          </a:xfrm>
          <a:prstGeom prst="rect">
            <a:avLst/>
          </a:prstGeom>
          <a:noFill/>
          <a:ln w="28575">
            <a:solidFill>
              <a:srgbClr val="0000FF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0114FE-DDB2-0C44-1A7A-D17A99305DBA}"/>
              </a:ext>
            </a:extLst>
          </p:cNvPr>
          <p:cNvSpPr txBox="1"/>
          <p:nvPr/>
        </p:nvSpPr>
        <p:spPr>
          <a:xfrm>
            <a:off x="9788434" y="2952206"/>
            <a:ext cx="801189" cy="21826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C56312-DC36-5B0A-CE18-7B75A9278758}"/>
              </a:ext>
            </a:extLst>
          </p:cNvPr>
          <p:cNvSpPr txBox="1"/>
          <p:nvPr/>
        </p:nvSpPr>
        <p:spPr>
          <a:xfrm>
            <a:off x="9788434" y="3687533"/>
            <a:ext cx="801189" cy="44829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50562E-AE5D-5D9A-1A12-FC7D32884268}"/>
              </a:ext>
            </a:extLst>
          </p:cNvPr>
          <p:cNvSpPr txBox="1"/>
          <p:nvPr/>
        </p:nvSpPr>
        <p:spPr>
          <a:xfrm>
            <a:off x="10689314" y="4292258"/>
            <a:ext cx="567003" cy="339533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OBS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CDF73-3ABC-702C-6604-163D2ADD98DE}"/>
              </a:ext>
            </a:extLst>
          </p:cNvPr>
          <p:cNvSpPr txBox="1"/>
          <p:nvPr/>
        </p:nvSpPr>
        <p:spPr>
          <a:xfrm>
            <a:off x="10685877" y="2884476"/>
            <a:ext cx="567003" cy="339533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PAR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3571DE-2CB4-B0C2-EE37-26293B526F6D}"/>
              </a:ext>
            </a:extLst>
          </p:cNvPr>
          <p:cNvSpPr txBox="1"/>
          <p:nvPr/>
        </p:nvSpPr>
        <p:spPr>
          <a:xfrm>
            <a:off x="10589623" y="2160317"/>
            <a:ext cx="702370" cy="30135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>
                <a:solidFill>
                  <a:schemeClr val="tx1"/>
                </a:solidFill>
              </a:rPr>
              <a:t>AUX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6133E7-F883-2C92-2493-25F43C2F90A4}"/>
              </a:ext>
            </a:extLst>
          </p:cNvPr>
          <p:cNvSpPr txBox="1"/>
          <p:nvPr/>
        </p:nvSpPr>
        <p:spPr>
          <a:xfrm>
            <a:off x="9788433" y="3427022"/>
            <a:ext cx="801189" cy="218263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B0BE58-3DF2-3B1F-F4F1-B398476A8B0A}"/>
              </a:ext>
            </a:extLst>
          </p:cNvPr>
          <p:cNvSpPr txBox="1"/>
          <p:nvPr/>
        </p:nvSpPr>
        <p:spPr>
          <a:xfrm>
            <a:off x="7278830" y="6686026"/>
            <a:ext cx="49551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600" dirty="0"/>
              <a:t>/</a:t>
            </a:r>
            <a:r>
              <a:rPr lang="LID4096" sz="600" dirty="0"/>
              <a:t>part0_02_intro_to_freyberg__W_inprogress/intro_freyberg_model_02_02.ipynb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CF34F3-3A50-D769-8FFC-8B72CC737F4F}"/>
              </a:ext>
            </a:extLst>
          </p:cNvPr>
          <p:cNvSpPr txBox="1"/>
          <p:nvPr/>
        </p:nvSpPr>
        <p:spPr>
          <a:xfrm>
            <a:off x="7913442" y="5386471"/>
            <a:ext cx="1159232" cy="457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pPr algn="ctr"/>
            <a:r>
              <a:rPr lang="en-US" sz="2400" dirty="0"/>
              <a:t>pyEMU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56B5CEB-9469-96AE-5D6D-6212382014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r="6064" b="7750"/>
          <a:stretch/>
        </p:blipFill>
        <p:spPr>
          <a:xfrm>
            <a:off x="7480169" y="6331531"/>
            <a:ext cx="4552497" cy="3771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EB02FC5F-1A1E-DCFE-B168-8C2B7869392F}"/>
              </a:ext>
            </a:extLst>
          </p:cNvPr>
          <p:cNvSpPr txBox="1"/>
          <p:nvPr/>
        </p:nvSpPr>
        <p:spPr>
          <a:xfrm>
            <a:off x="7462752" y="5871324"/>
            <a:ext cx="1126503" cy="48151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D91A1C-D496-4813-4A89-6541A15065D2}"/>
              </a:ext>
            </a:extLst>
          </p:cNvPr>
          <p:cNvSpPr txBox="1">
            <a:spLocks noChangeAspect="1"/>
          </p:cNvSpPr>
          <p:nvPr/>
        </p:nvSpPr>
        <p:spPr>
          <a:xfrm>
            <a:off x="7913442" y="5965966"/>
            <a:ext cx="58452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05a</a:t>
            </a:r>
          </a:p>
        </p:txBody>
      </p:sp>
    </p:spTree>
    <p:extLst>
      <p:ext uri="{BB962C8B-B14F-4D97-AF65-F5344CB8AC3E}">
        <p14:creationId xmlns:p14="http://schemas.microsoft.com/office/powerpoint/2010/main" val="23513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F12D5-2F02-EB3F-EC2D-90D353F1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F6E644-A444-6FE4-5BB5-D9213199D949}"/>
              </a:ext>
            </a:extLst>
          </p:cNvPr>
          <p:cNvSpPr txBox="1"/>
          <p:nvPr/>
        </p:nvSpPr>
        <p:spPr>
          <a:xfrm>
            <a:off x="7278830" y="6686026"/>
            <a:ext cx="49551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600" dirty="0"/>
              <a:t>/</a:t>
            </a:r>
            <a:r>
              <a:rPr lang="LID4096" sz="600" dirty="0"/>
              <a:t>part0_02_intro_to_freyberg__W_inprogress/intro_freyberg_model_02_02.ipynb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619F1-0FFC-EE01-FDA0-51B6CD5E1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81" y="153120"/>
            <a:ext cx="8282231" cy="55422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6154DF6-CFB9-60AC-1867-ABB0BBC86F1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342605" y="3648890"/>
            <a:ext cx="340523" cy="2529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55FB260-A0AA-022E-83DB-AF460AE7BE4E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342605" y="3962814"/>
            <a:ext cx="340523" cy="2529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C2C43-7F6A-E9C5-341C-B0361CC53442}"/>
              </a:ext>
            </a:extLst>
          </p:cNvPr>
          <p:cNvSpPr txBox="1">
            <a:spLocks noChangeAspect="1"/>
          </p:cNvSpPr>
          <p:nvPr/>
        </p:nvSpPr>
        <p:spPr>
          <a:xfrm>
            <a:off x="10626738" y="275667"/>
            <a:ext cx="39853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01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7F01FD3-36BD-BB74-9A02-5B29E37BF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379" y="4437676"/>
            <a:ext cx="412741" cy="41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2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5296D-4F2A-D181-E4F1-E6C8B03F7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020EF55C-8A88-6B6B-810F-D9C8D9454A62}"/>
              </a:ext>
            </a:extLst>
          </p:cNvPr>
          <p:cNvGrpSpPr>
            <a:grpSpLocks noChangeAspect="1"/>
          </p:cNvGrpSpPr>
          <p:nvPr/>
        </p:nvGrpSpPr>
        <p:grpSpPr>
          <a:xfrm>
            <a:off x="7913444" y="1441300"/>
            <a:ext cx="3917884" cy="3447761"/>
            <a:chOff x="6937184" y="1957155"/>
            <a:chExt cx="3163174" cy="278361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A65BB7F-0991-2581-2B4F-B4C1B7871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8058" y="2397617"/>
              <a:ext cx="3162300" cy="234315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A8DC74D-255B-4D35-2C26-41E7F43AB390}"/>
                </a:ext>
              </a:extLst>
            </p:cNvPr>
            <p:cNvSpPr txBox="1"/>
            <p:nvPr/>
          </p:nvSpPr>
          <p:spPr>
            <a:xfrm>
              <a:off x="6937184" y="1957155"/>
              <a:ext cx="935926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2400" dirty="0"/>
                <a:t>flowPy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96297F4-2165-9E2B-F433-43A78CD38AD1}"/>
              </a:ext>
            </a:extLst>
          </p:cNvPr>
          <p:cNvSpPr txBox="1"/>
          <p:nvPr/>
        </p:nvSpPr>
        <p:spPr>
          <a:xfrm>
            <a:off x="7278830" y="6686026"/>
            <a:ext cx="49551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600" dirty="0"/>
              <a:t>/</a:t>
            </a:r>
            <a:r>
              <a:rPr lang="LID4096" sz="600" dirty="0"/>
              <a:t>part0_02_intro_to_freyberg__W_inprogress/intro_freyberg_model_02_02.ipynb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9B384E-12B5-8FEA-9A1C-97E192E05A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573" b="9825"/>
          <a:stretch/>
        </p:blipFill>
        <p:spPr>
          <a:xfrm>
            <a:off x="132318" y="5298197"/>
            <a:ext cx="7025157" cy="76296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289F25-685E-4160-82D1-EE23F6B3B1D9}"/>
              </a:ext>
            </a:extLst>
          </p:cNvPr>
          <p:cNvSpPr/>
          <p:nvPr/>
        </p:nvSpPr>
        <p:spPr>
          <a:xfrm>
            <a:off x="235134" y="5298199"/>
            <a:ext cx="830095" cy="76296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/>
          <a:p>
            <a:endParaRPr lang="LID4096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909C70-D8FA-46EC-908E-03EB36F3DB53}"/>
              </a:ext>
            </a:extLst>
          </p:cNvPr>
          <p:cNvGrpSpPr>
            <a:grpSpLocks noChangeAspect="1"/>
          </p:cNvGrpSpPr>
          <p:nvPr/>
        </p:nvGrpSpPr>
        <p:grpSpPr>
          <a:xfrm>
            <a:off x="235133" y="271925"/>
            <a:ext cx="7549047" cy="2758658"/>
            <a:chOff x="645255" y="3802613"/>
            <a:chExt cx="6553492" cy="239485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AD6A224-A276-8D8E-E21A-A313EDCE2C6B}"/>
                </a:ext>
              </a:extLst>
            </p:cNvPr>
            <p:cNvGrpSpPr/>
            <p:nvPr/>
          </p:nvGrpSpPr>
          <p:grpSpPr>
            <a:xfrm>
              <a:off x="1078605" y="4367053"/>
              <a:ext cx="6120142" cy="1830411"/>
              <a:chOff x="1078605" y="4367053"/>
              <a:chExt cx="6120142" cy="1830411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2AEF570F-B025-D406-2B9D-6591E58257AC}"/>
                  </a:ext>
                </a:extLst>
              </p:cNvPr>
              <p:cNvGrpSpPr/>
              <p:nvPr/>
            </p:nvGrpSpPr>
            <p:grpSpPr>
              <a:xfrm>
                <a:off x="1078605" y="4367053"/>
                <a:ext cx="5212083" cy="1830411"/>
                <a:chOff x="1389015" y="2753086"/>
                <a:chExt cx="5212083" cy="1830411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890D358-9457-94E3-34CA-F6AB4DC2E95B}"/>
                    </a:ext>
                  </a:extLst>
                </p:cNvPr>
                <p:cNvSpPr/>
                <p:nvPr/>
              </p:nvSpPr>
              <p:spPr>
                <a:xfrm>
                  <a:off x="1454330" y="2786743"/>
                  <a:ext cx="1370150" cy="1796754"/>
                </a:xfrm>
                <a:prstGeom prst="rect">
                  <a:avLst/>
                </a:prstGeom>
                <a:solidFill>
                  <a:srgbClr val="FAD9C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200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1045D8A-4F18-172F-2DC1-6B6916A2A22C}"/>
                    </a:ext>
                  </a:extLst>
                </p:cNvPr>
                <p:cNvSpPr txBox="1"/>
                <p:nvPr/>
              </p:nvSpPr>
              <p:spPr>
                <a:xfrm>
                  <a:off x="1389015" y="2753086"/>
                  <a:ext cx="5212083" cy="17709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LID4096" sz="2000" dirty="0"/>
                    <a:t>fpm.Modflow</a:t>
                  </a:r>
                  <a:r>
                    <a:rPr lang="pt-BR" sz="2000" dirty="0"/>
                    <a:t>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Dis</a:t>
                  </a:r>
                  <a:endParaRPr lang="pt-BR" sz="2000" dirty="0"/>
                </a:p>
                <a:p>
                  <a:r>
                    <a:rPr lang="LID4096" sz="2000" dirty="0"/>
                    <a:t>fpm.Modflow</a:t>
                  </a:r>
                  <a:r>
                    <a:rPr lang="pt-BR" sz="2000" dirty="0"/>
                    <a:t> </a:t>
                  </a:r>
                  <a:r>
                    <a:rPr lang="pt-BR" sz="2000" dirty="0">
                      <a:solidFill>
                        <a:srgbClr val="0000FF"/>
                      </a:solidFill>
                    </a:rPr>
                    <a:t>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Bas</a:t>
                  </a:r>
                  <a:r>
                    <a:rPr lang="pt-BR" sz="2000" dirty="0">
                      <a:solidFill>
                        <a:srgbClr val="0000FF"/>
                      </a:solidFill>
                    </a:rPr>
                    <a:t> </a:t>
                  </a:r>
                  <a:r>
                    <a:rPr lang="LID4096" sz="2000" dirty="0"/>
                    <a:t>(model, ibound=ibound, strt=20)        fpm.Modflow</a:t>
                  </a:r>
                  <a:r>
                    <a:rPr lang="pt-BR" sz="2000" dirty="0"/>
                    <a:t>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Lpf</a:t>
                  </a:r>
                  <a:r>
                    <a:rPr lang="pt-BR" sz="2000" dirty="0">
                      <a:solidFill>
                        <a:srgbClr val="0000FF"/>
                      </a:solidFill>
                    </a:rPr>
                    <a:t>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(model, hk=10, laytyp=1)        </a:t>
                  </a:r>
                  <a:r>
                    <a:rPr lang="LID4096" sz="2000" dirty="0"/>
                    <a:t>fpm.Modflow</a:t>
                  </a:r>
                  <a:r>
                    <a:rPr lang="pt-BR" sz="2000" dirty="0"/>
                    <a:t>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Wel</a:t>
                  </a:r>
                  <a:r>
                    <a:rPr lang="pt-BR" sz="2000" dirty="0">
                      <a:solidFill>
                        <a:srgbClr val="0000FF"/>
                      </a:solidFill>
                    </a:rPr>
                    <a:t>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(model, stress_period_data=lrcQ)        </a:t>
                  </a:r>
                  <a:r>
                    <a:rPr lang="LID4096" sz="2000" dirty="0"/>
                    <a:t>fpm.Modflow</a:t>
                  </a:r>
                  <a:r>
                    <a:rPr lang="pt-BR" sz="2000" dirty="0"/>
                    <a:t>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Pcg</a:t>
                  </a:r>
                  <a:r>
                    <a:rPr lang="pt-BR" sz="2000" dirty="0">
                      <a:solidFill>
                        <a:srgbClr val="0000FF"/>
                      </a:solidFill>
                    </a:rPr>
                    <a:t>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(model)        </a:t>
                  </a:r>
                  <a:endParaRPr lang="pt-BR" sz="2000" dirty="0">
                    <a:solidFill>
                      <a:srgbClr val="0000FF"/>
                    </a:solidFill>
                  </a:endParaRPr>
                </a:p>
                <a:p>
                  <a:r>
                    <a:rPr lang="LID4096" sz="2000" dirty="0"/>
                    <a:t>fpm.Modflow</a:t>
                  </a:r>
                  <a:r>
                    <a:rPr lang="pt-BR" sz="2000" dirty="0"/>
                    <a:t>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Oc</a:t>
                  </a:r>
                  <a:r>
                    <a:rPr lang="pt-BR" sz="2000" dirty="0">
                      <a:solidFill>
                        <a:srgbClr val="0000FF"/>
                      </a:solidFill>
                    </a:rPr>
                    <a:t>   </a:t>
                  </a:r>
                  <a:r>
                    <a:rPr lang="LID4096" sz="2000" dirty="0">
                      <a:solidFill>
                        <a:srgbClr val="0000FF"/>
                      </a:solidFill>
                    </a:rPr>
                    <a:t>(model)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54D2252-8EF0-43EA-D037-A1638E5232FC}"/>
                  </a:ext>
                </a:extLst>
              </p:cNvPr>
              <p:cNvSpPr txBox="1"/>
              <p:nvPr/>
            </p:nvSpPr>
            <p:spPr>
              <a:xfrm>
                <a:off x="1078605" y="4459196"/>
                <a:ext cx="6120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LID4096" sz="2000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54A8C1-7693-1624-8E57-31212D6E7DAC}"/>
                </a:ext>
              </a:extLst>
            </p:cNvPr>
            <p:cNvSpPr txBox="1"/>
            <p:nvPr/>
          </p:nvSpPr>
          <p:spPr>
            <a:xfrm>
              <a:off x="3826612" y="5849484"/>
              <a:ext cx="1725083" cy="2616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anchor="ctr" anchorCtr="0">
              <a:noAutofit/>
            </a:bodyPr>
            <a:lstStyle>
              <a:defPPr>
                <a:defRPr lang="LID4096"/>
              </a:defPPr>
              <a:lvl1pPr>
                <a:defRPr/>
              </a:lvl1pPr>
            </a:lstStyle>
            <a:p>
              <a:r>
                <a:rPr lang="LID4096" sz="2000" b="1" dirty="0"/>
                <a:t># output control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3A4CE3-7C7B-2519-9B65-F1EE07096D7F}"/>
                </a:ext>
              </a:extLst>
            </p:cNvPr>
            <p:cNvSpPr txBox="1"/>
            <p:nvPr/>
          </p:nvSpPr>
          <p:spPr>
            <a:xfrm>
              <a:off x="645255" y="4400710"/>
              <a:ext cx="433350" cy="17709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pt-BR" sz="2000" dirty="0"/>
                <a:t>01</a:t>
              </a:r>
            </a:p>
            <a:p>
              <a:r>
                <a:rPr lang="pt-BR" sz="2000" dirty="0"/>
                <a:t>02</a:t>
              </a:r>
            </a:p>
            <a:p>
              <a:r>
                <a:rPr lang="pt-BR" sz="2000" dirty="0"/>
                <a:t>03</a:t>
              </a:r>
            </a:p>
            <a:p>
              <a:r>
                <a:rPr lang="pt-BR" sz="2000" dirty="0"/>
                <a:t>04</a:t>
              </a:r>
            </a:p>
            <a:p>
              <a:r>
                <a:rPr lang="pt-BR" sz="2000" dirty="0"/>
                <a:t>05</a:t>
              </a:r>
            </a:p>
            <a:p>
              <a:r>
                <a:rPr lang="pt-BR" sz="2000" dirty="0"/>
                <a:t>06</a:t>
              </a:r>
              <a:endParaRPr lang="LID4096" sz="20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F81A4B3-67B3-1BD7-1E18-6D0C3394410D}"/>
                </a:ext>
              </a:extLst>
            </p:cNvPr>
            <p:cNvSpPr txBox="1"/>
            <p:nvPr/>
          </p:nvSpPr>
          <p:spPr>
            <a:xfrm>
              <a:off x="3826612" y="5532246"/>
              <a:ext cx="1725083" cy="2566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anchor="ctr" anchorCtr="0">
              <a:noAutofit/>
            </a:bodyPr>
            <a:lstStyle>
              <a:defPPr>
                <a:defRPr lang="LID4096"/>
              </a:defPPr>
              <a:lvl1pPr>
                <a:defRPr/>
              </a:lvl1pPr>
            </a:lstStyle>
            <a:p>
              <a:r>
                <a:rPr lang="LID4096" sz="2000" b="1" dirty="0"/>
                <a:t># </a:t>
              </a:r>
              <a:r>
                <a:rPr lang="pt-BR" sz="2000" b="1" dirty="0"/>
                <a:t>solver</a:t>
              </a:r>
              <a:endParaRPr lang="LID4096" sz="2000" b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E53DA62-5AB0-262F-F015-0DD56CEFC57A}"/>
                </a:ext>
              </a:extLst>
            </p:cNvPr>
            <p:cNvSpPr txBox="1"/>
            <p:nvPr/>
          </p:nvSpPr>
          <p:spPr>
            <a:xfrm>
              <a:off x="666166" y="3802613"/>
              <a:ext cx="4885529" cy="4778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Essential model utilities     flowPy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E47616-8457-641D-3247-9C44D9578A3D}"/>
                </a:ext>
              </a:extLst>
            </p:cNvPr>
            <p:cNvSpPr txBox="1"/>
            <p:nvPr/>
          </p:nvSpPr>
          <p:spPr>
            <a:xfrm>
              <a:off x="6111373" y="5028393"/>
              <a:ext cx="939490" cy="2616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anchor="ctr" anchorCtr="0">
              <a:noAutofit/>
            </a:bodyPr>
            <a:lstStyle/>
            <a:p>
              <a:r>
                <a:rPr lang="LID4096" sz="2000" b="1" dirty="0"/>
                <a:t># </a:t>
              </a:r>
              <a:r>
                <a:rPr lang="pt-BR" sz="2000" b="1" dirty="0"/>
                <a:t>Layers</a:t>
              </a:r>
              <a:endParaRPr lang="LID4096" sz="2000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271C5F3-7293-F5F5-2169-03A18448A9CB}"/>
                </a:ext>
              </a:extLst>
            </p:cNvPr>
            <p:cNvSpPr txBox="1"/>
            <p:nvPr/>
          </p:nvSpPr>
          <p:spPr>
            <a:xfrm>
              <a:off x="6111373" y="4690698"/>
              <a:ext cx="939490" cy="2616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LID4096" sz="2000" b="1" dirty="0"/>
                <a:t># </a:t>
              </a:r>
              <a:r>
                <a:rPr lang="pt-BR" sz="2000" b="1" dirty="0"/>
                <a:t>Grid</a:t>
              </a:r>
              <a:endParaRPr lang="LID4096" sz="2000" b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1E7207-D2A0-7BFD-2A50-6EB168B1B363}"/>
                </a:ext>
              </a:extLst>
            </p:cNvPr>
            <p:cNvSpPr txBox="1"/>
            <p:nvPr/>
          </p:nvSpPr>
          <p:spPr>
            <a:xfrm>
              <a:off x="3826612" y="4413679"/>
              <a:ext cx="1725083" cy="2388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anchor="ctr" anchorCtr="0">
              <a:noAutofit/>
            </a:bodyPr>
            <a:lstStyle>
              <a:defPPr>
                <a:defRPr lang="LID4096"/>
              </a:defPPr>
              <a:lvl1pPr>
                <a:defRPr/>
              </a:lvl1pPr>
            </a:lstStyle>
            <a:p>
              <a:r>
                <a:rPr lang="LID4096" sz="2000" b="1" dirty="0"/>
                <a:t>Discretization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433269A-CC8E-5C49-C08D-DE91DBF807F7}"/>
              </a:ext>
            </a:extLst>
          </p:cNvPr>
          <p:cNvGrpSpPr/>
          <p:nvPr/>
        </p:nvGrpSpPr>
        <p:grpSpPr>
          <a:xfrm>
            <a:off x="145021" y="4363103"/>
            <a:ext cx="7025157" cy="795259"/>
            <a:chOff x="145021" y="4363103"/>
            <a:chExt cx="7025157" cy="795259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B4C73058-682E-E01B-6D6B-2EE9AF8A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8345" b="15816"/>
            <a:stretch/>
          </p:blipFill>
          <p:spPr>
            <a:xfrm>
              <a:off x="145021" y="4363103"/>
              <a:ext cx="7025157" cy="795259"/>
            </a:xfrm>
            <a:prstGeom prst="rect">
              <a:avLst/>
            </a:prstGeom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C81BA96-F6AF-75D6-6A00-C35006531E00}"/>
                </a:ext>
              </a:extLst>
            </p:cNvPr>
            <p:cNvSpPr/>
            <p:nvPr/>
          </p:nvSpPr>
          <p:spPr>
            <a:xfrm>
              <a:off x="1008120" y="4405531"/>
              <a:ext cx="757645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0">
              <a:noAutofit/>
            </a:bodyPr>
            <a:lstStyle/>
            <a:p>
              <a:endParaRPr lang="LID4096"/>
            </a:p>
          </p:txBody>
        </p:sp>
      </p:grp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D511AC53-7FBA-9F3C-6FC0-3EF13EF5ED40}"/>
              </a:ext>
            </a:extLst>
          </p:cNvPr>
          <p:cNvSpPr>
            <a:spLocks noChangeAspect="1"/>
          </p:cNvSpPr>
          <p:nvPr/>
        </p:nvSpPr>
        <p:spPr>
          <a:xfrm rot="10135654">
            <a:off x="7181445" y="5475695"/>
            <a:ext cx="463326" cy="366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021375E0-BBC2-4F2F-7386-97624CE7B356}"/>
              </a:ext>
            </a:extLst>
          </p:cNvPr>
          <p:cNvSpPr>
            <a:spLocks noChangeAspect="1"/>
          </p:cNvSpPr>
          <p:nvPr/>
        </p:nvSpPr>
        <p:spPr>
          <a:xfrm rot="10135654">
            <a:off x="7181444" y="5018242"/>
            <a:ext cx="463326" cy="366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B8C5DC-1EAA-A52C-54AB-4EDEEDC12100}"/>
              </a:ext>
            </a:extLst>
          </p:cNvPr>
          <p:cNvSpPr txBox="1">
            <a:spLocks noChangeAspect="1"/>
          </p:cNvSpPr>
          <p:nvPr/>
        </p:nvSpPr>
        <p:spPr>
          <a:xfrm>
            <a:off x="6701103" y="4434655"/>
            <a:ext cx="39853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03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53E17C5-3826-CC1E-8A02-0A61861BD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050" y="907583"/>
            <a:ext cx="307900" cy="3079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13A1B4FE-CD9E-F4A8-6B39-469DF5765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418" y="2011824"/>
            <a:ext cx="307900" cy="3079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E3DADE7-1C17-2E0D-2A3D-9D111FD4D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096" y="2654181"/>
            <a:ext cx="307900" cy="3079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BA8816E-BB51-E67D-9A9C-DD1F571E25BB}"/>
              </a:ext>
            </a:extLst>
          </p:cNvPr>
          <p:cNvSpPr txBox="1"/>
          <p:nvPr/>
        </p:nvSpPr>
        <p:spPr>
          <a:xfrm>
            <a:off x="9788434" y="4197531"/>
            <a:ext cx="801189" cy="390590"/>
          </a:xfrm>
          <a:prstGeom prst="rect">
            <a:avLst/>
          </a:prstGeom>
          <a:noFill/>
          <a:ln w="28575">
            <a:solidFill>
              <a:srgbClr val="0000FF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F72E67-F73F-C484-2A49-2E951873351E}"/>
              </a:ext>
            </a:extLst>
          </p:cNvPr>
          <p:cNvSpPr txBox="1"/>
          <p:nvPr/>
        </p:nvSpPr>
        <p:spPr>
          <a:xfrm>
            <a:off x="9788434" y="2952206"/>
            <a:ext cx="801189" cy="21826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9029A4-FB15-F6C7-F6C4-8F0EEF56F923}"/>
              </a:ext>
            </a:extLst>
          </p:cNvPr>
          <p:cNvSpPr txBox="1"/>
          <p:nvPr/>
        </p:nvSpPr>
        <p:spPr>
          <a:xfrm>
            <a:off x="9788434" y="3687533"/>
            <a:ext cx="801189" cy="44829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6F3A29-E4AE-6B6C-4904-40B1CC364FA7}"/>
              </a:ext>
            </a:extLst>
          </p:cNvPr>
          <p:cNvSpPr txBox="1"/>
          <p:nvPr/>
        </p:nvSpPr>
        <p:spPr>
          <a:xfrm>
            <a:off x="9788433" y="3427022"/>
            <a:ext cx="801189" cy="218263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0A73AB-D1E3-0E95-AF93-815C4BC557A0}"/>
              </a:ext>
            </a:extLst>
          </p:cNvPr>
          <p:cNvSpPr txBox="1"/>
          <p:nvPr/>
        </p:nvSpPr>
        <p:spPr>
          <a:xfrm>
            <a:off x="3899777" y="3023509"/>
            <a:ext cx="1987144" cy="3013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defPPr>
              <a:defRPr lang="LID4096"/>
            </a:defPPr>
            <a:lvl1pPr>
              <a:defRPr/>
            </a:lvl1pPr>
          </a:lstStyle>
          <a:p>
            <a:r>
              <a:rPr lang="en-US" sz="2000" b="1"/>
              <a:t>initial conditions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579AC521-9DF6-25D7-DEED-650A38812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877" y="3023509"/>
            <a:ext cx="307900" cy="30790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201D3243-4673-FBC6-2C2D-2AB868C2D460}"/>
              </a:ext>
            </a:extLst>
          </p:cNvPr>
          <p:cNvSpPr txBox="1"/>
          <p:nvPr/>
        </p:nvSpPr>
        <p:spPr>
          <a:xfrm>
            <a:off x="7278830" y="6686026"/>
            <a:ext cx="49551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600" dirty="0"/>
              <a:t>/</a:t>
            </a:r>
            <a:r>
              <a:rPr lang="LID4096" sz="600" dirty="0"/>
              <a:t>part0_02_intro_to_freyberg__W_inprogress/intro_freyberg_model_02_02.ipynb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0C3174-E02F-CFBD-AC17-0350C924E43E}"/>
              </a:ext>
            </a:extLst>
          </p:cNvPr>
          <p:cNvSpPr txBox="1"/>
          <p:nvPr/>
        </p:nvSpPr>
        <p:spPr>
          <a:xfrm>
            <a:off x="7913442" y="5386471"/>
            <a:ext cx="1159232" cy="457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pPr algn="ctr"/>
            <a:r>
              <a:rPr lang="en-US" sz="2400" dirty="0"/>
              <a:t>pyEMU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673C5523-7138-EA16-8250-447B1A7B7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r="6064" b="7750"/>
          <a:stretch/>
        </p:blipFill>
        <p:spPr>
          <a:xfrm>
            <a:off x="7480169" y="6331531"/>
            <a:ext cx="4552497" cy="3771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BE96DA2A-0451-6310-23FE-BA818BBF835D}"/>
              </a:ext>
            </a:extLst>
          </p:cNvPr>
          <p:cNvSpPr txBox="1"/>
          <p:nvPr/>
        </p:nvSpPr>
        <p:spPr>
          <a:xfrm>
            <a:off x="7462752" y="5871324"/>
            <a:ext cx="1126503" cy="48151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FC5FFC2-667E-F73B-C1B9-ACDE060FD2A0}"/>
              </a:ext>
            </a:extLst>
          </p:cNvPr>
          <p:cNvSpPr txBox="1">
            <a:spLocks noChangeAspect="1"/>
          </p:cNvSpPr>
          <p:nvPr/>
        </p:nvSpPr>
        <p:spPr>
          <a:xfrm>
            <a:off x="7913442" y="5965966"/>
            <a:ext cx="58452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05a</a:t>
            </a:r>
          </a:p>
        </p:txBody>
      </p:sp>
    </p:spTree>
    <p:extLst>
      <p:ext uri="{BB962C8B-B14F-4D97-AF65-F5344CB8AC3E}">
        <p14:creationId xmlns:p14="http://schemas.microsoft.com/office/powerpoint/2010/main" val="244684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5CF3E-AA46-847F-AD62-75D31428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L-Shape 63">
            <a:extLst>
              <a:ext uri="{FF2B5EF4-FFF2-40B4-BE49-F238E27FC236}">
                <a16:creationId xmlns:a16="http://schemas.microsoft.com/office/drawing/2014/main" id="{8EB09D34-F284-FCB4-323F-A9680EA2D523}"/>
              </a:ext>
            </a:extLst>
          </p:cNvPr>
          <p:cNvSpPr/>
          <p:nvPr/>
        </p:nvSpPr>
        <p:spPr>
          <a:xfrm>
            <a:off x="1938" y="4650377"/>
            <a:ext cx="2787405" cy="2204273"/>
          </a:xfrm>
          <a:prstGeom prst="corner">
            <a:avLst>
              <a:gd name="adj1" fmla="val 100000"/>
              <a:gd name="adj2" fmla="val 786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8078E-8798-65E5-0FD4-D4F32A67B6FC}"/>
              </a:ext>
            </a:extLst>
          </p:cNvPr>
          <p:cNvSpPr txBox="1"/>
          <p:nvPr/>
        </p:nvSpPr>
        <p:spPr>
          <a:xfrm>
            <a:off x="7278830" y="6686026"/>
            <a:ext cx="49551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600" dirty="0"/>
              <a:t>/</a:t>
            </a:r>
            <a:r>
              <a:rPr lang="LID4096" sz="600" dirty="0"/>
              <a:t>part0_02_intro_to_freyberg__W_inprogress/intro_freyberg_model_02_02.ipynb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9BB6301-49C2-9C28-4093-57CBC9742687}"/>
              </a:ext>
            </a:extLst>
          </p:cNvPr>
          <p:cNvGrpSpPr/>
          <p:nvPr/>
        </p:nvGrpSpPr>
        <p:grpSpPr>
          <a:xfrm>
            <a:off x="2845482" y="153119"/>
            <a:ext cx="4311993" cy="6551761"/>
            <a:chOff x="2393606" y="119005"/>
            <a:chExt cx="4311993" cy="655176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BB7AD20-323D-052D-C28E-10E4342C9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93606" y="119005"/>
              <a:ext cx="4311993" cy="655176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ECD56126-F962-C32A-377C-6039DCC06175}"/>
                </a:ext>
              </a:extLst>
            </p:cNvPr>
            <p:cNvSpPr>
              <a:spLocks noChangeAspect="1"/>
            </p:cNvSpPr>
            <p:nvPr/>
          </p:nvSpPr>
          <p:spPr>
            <a:xfrm rot="12077010">
              <a:off x="5264415" y="3798948"/>
              <a:ext cx="463326" cy="36635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68D5483E-24E1-F0DB-AFDC-28D23E6B69F4}"/>
              </a:ext>
            </a:extLst>
          </p:cNvPr>
          <p:cNvSpPr/>
          <p:nvPr/>
        </p:nvSpPr>
        <p:spPr>
          <a:xfrm>
            <a:off x="3359434" y="5263412"/>
            <a:ext cx="525061" cy="232026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/>
          <a:p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5A4BB1-3FD8-73D3-E2D2-BF1CE16FB1A9}"/>
              </a:ext>
            </a:extLst>
          </p:cNvPr>
          <p:cNvSpPr/>
          <p:nvPr/>
        </p:nvSpPr>
        <p:spPr>
          <a:xfrm>
            <a:off x="2880629" y="5662288"/>
            <a:ext cx="525061" cy="44851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/>
          <a:p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C12243-FF70-8F72-490E-DFEE4C540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412" y="3499484"/>
            <a:ext cx="4895850" cy="7715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61CFDDF-BA6B-7413-7025-6B3F278BB045}"/>
              </a:ext>
            </a:extLst>
          </p:cNvPr>
          <p:cNvSpPr>
            <a:spLocks noChangeAspect="1"/>
          </p:cNvSpPr>
          <p:nvPr/>
        </p:nvSpPr>
        <p:spPr>
          <a:xfrm rot="20181487">
            <a:off x="7389396" y="3827132"/>
            <a:ext cx="463326" cy="366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08B65-8585-8090-8317-0A2C3CA89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5" t="51227" r="83231" b="42061"/>
          <a:stretch/>
        </p:blipFill>
        <p:spPr>
          <a:xfrm>
            <a:off x="1054969" y="2903640"/>
            <a:ext cx="1557179" cy="102433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78CC2F-5266-7B3B-69CA-D49FF005E662}"/>
              </a:ext>
            </a:extLst>
          </p:cNvPr>
          <p:cNvSpPr/>
          <p:nvPr/>
        </p:nvSpPr>
        <p:spPr>
          <a:xfrm>
            <a:off x="2889810" y="3499483"/>
            <a:ext cx="663287" cy="448513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/>
          <a:p>
            <a:endParaRPr lang="LID4096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54C505-D9CE-56C6-4DF8-935C38F898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3541"/>
          <a:stretch/>
        </p:blipFill>
        <p:spPr>
          <a:xfrm>
            <a:off x="8240461" y="2899696"/>
            <a:ext cx="3916801" cy="4776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9E2C2D-7FC2-F21F-9031-FA4BE6F44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2003" y="2946795"/>
            <a:ext cx="412741" cy="412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83AD1-DD94-6778-980F-921367CADA77}"/>
              </a:ext>
            </a:extLst>
          </p:cNvPr>
          <p:cNvSpPr txBox="1"/>
          <p:nvPr/>
        </p:nvSpPr>
        <p:spPr>
          <a:xfrm>
            <a:off x="7913442" y="5386471"/>
            <a:ext cx="1159232" cy="457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pPr algn="ctr"/>
            <a:r>
              <a:rPr lang="en-US" sz="2400" dirty="0"/>
              <a:t>pyEMU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603F3E-88DE-FC9D-C0D5-0CED3E450D8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r="6064" b="7750"/>
          <a:stretch/>
        </p:blipFill>
        <p:spPr>
          <a:xfrm>
            <a:off x="7480169" y="6331531"/>
            <a:ext cx="4552497" cy="3771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CE06205-D847-7E58-DFC8-54AE8C705D84}"/>
              </a:ext>
            </a:extLst>
          </p:cNvPr>
          <p:cNvSpPr txBox="1"/>
          <p:nvPr/>
        </p:nvSpPr>
        <p:spPr>
          <a:xfrm>
            <a:off x="7462752" y="5871324"/>
            <a:ext cx="1126503" cy="48151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A452A24-D046-93F0-0542-8D55DE367556}"/>
              </a:ext>
            </a:extLst>
          </p:cNvPr>
          <p:cNvGrpSpPr/>
          <p:nvPr/>
        </p:nvGrpSpPr>
        <p:grpSpPr>
          <a:xfrm>
            <a:off x="378485" y="1634539"/>
            <a:ext cx="2127638" cy="781055"/>
            <a:chOff x="378485" y="1634539"/>
            <a:chExt cx="2127638" cy="78105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9A40B95-0E3A-95CE-E4E0-043405EEE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10878"/>
            <a:stretch/>
          </p:blipFill>
          <p:spPr>
            <a:xfrm>
              <a:off x="378485" y="1647454"/>
              <a:ext cx="2096527" cy="7681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6A6944-571E-3E43-DD56-90BFDF564FD1}"/>
                </a:ext>
              </a:extLst>
            </p:cNvPr>
            <p:cNvSpPr txBox="1"/>
            <p:nvPr/>
          </p:nvSpPr>
          <p:spPr>
            <a:xfrm>
              <a:off x="2040654" y="1634539"/>
              <a:ext cx="465469" cy="481515"/>
            </a:xfrm>
            <a:prstGeom prst="rect">
              <a:avLst/>
            </a:prstGeom>
            <a:noFill/>
            <a:ln w="28575">
              <a:noFill/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E51511-A0BB-9B83-9812-07AB1A121825}"/>
              </a:ext>
            </a:extLst>
          </p:cNvPr>
          <p:cNvGrpSpPr/>
          <p:nvPr/>
        </p:nvGrpSpPr>
        <p:grpSpPr>
          <a:xfrm>
            <a:off x="87717" y="4715564"/>
            <a:ext cx="2567567" cy="1982041"/>
            <a:chOff x="108689" y="4975885"/>
            <a:chExt cx="2440956" cy="169033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44D0E00-119D-3F05-8AC5-00D5941E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689" y="4975885"/>
              <a:ext cx="1127216" cy="355963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6677410-43D7-D511-EE55-CC58B0BE6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8194" y="6301979"/>
              <a:ext cx="1641450" cy="3642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C0726D8-70C7-B68C-02E6-46351656A188}"/>
                </a:ext>
              </a:extLst>
            </p:cNvPr>
            <p:cNvSpPr txBox="1"/>
            <p:nvPr/>
          </p:nvSpPr>
          <p:spPr>
            <a:xfrm>
              <a:off x="344586" y="5403335"/>
              <a:ext cx="1127216" cy="316299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2000" dirty="0"/>
                <a:t>pyEMU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85C0D44-578A-3257-8728-09108C7B6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15859" r="7620" b="2501"/>
            <a:stretch/>
          </p:blipFill>
          <p:spPr>
            <a:xfrm>
              <a:off x="908195" y="5842665"/>
              <a:ext cx="1641450" cy="3642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D896FBFC-E359-9254-D247-9A337925D61E}"/>
              </a:ext>
            </a:extLst>
          </p:cNvPr>
          <p:cNvSpPr>
            <a:spLocks noChangeAspect="1"/>
          </p:cNvSpPr>
          <p:nvPr/>
        </p:nvSpPr>
        <p:spPr>
          <a:xfrm rot="10800000">
            <a:off x="11801003" y="3561628"/>
            <a:ext cx="231663" cy="3663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73D22D-EB5B-F86D-0E16-75695CB88137}"/>
              </a:ext>
            </a:extLst>
          </p:cNvPr>
          <p:cNvSpPr txBox="1">
            <a:spLocks noChangeAspect="1"/>
          </p:cNvSpPr>
          <p:nvPr/>
        </p:nvSpPr>
        <p:spPr>
          <a:xfrm>
            <a:off x="7261412" y="3125785"/>
            <a:ext cx="39853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F6AD8F-9580-8491-42D7-46F77E7391E5}"/>
              </a:ext>
            </a:extLst>
          </p:cNvPr>
          <p:cNvSpPr txBox="1">
            <a:spLocks noChangeAspect="1"/>
          </p:cNvSpPr>
          <p:nvPr/>
        </p:nvSpPr>
        <p:spPr>
          <a:xfrm>
            <a:off x="7913442" y="5965966"/>
            <a:ext cx="584527" cy="292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dirty="0"/>
              <a:t>05a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F9D8F4-4301-7B55-0E2C-963315F15B48}"/>
              </a:ext>
            </a:extLst>
          </p:cNvPr>
          <p:cNvSpPr txBox="1"/>
          <p:nvPr/>
        </p:nvSpPr>
        <p:spPr>
          <a:xfrm>
            <a:off x="10850880" y="4352478"/>
            <a:ext cx="1265749" cy="45745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r>
              <a:rPr lang="en-US" sz="2400" dirty="0"/>
              <a:t>helpers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A0896EE-AE06-7A6C-9008-3C0C53053FA3}"/>
              </a:ext>
            </a:extLst>
          </p:cNvPr>
          <p:cNvSpPr/>
          <p:nvPr/>
        </p:nvSpPr>
        <p:spPr>
          <a:xfrm>
            <a:off x="8216586" y="3536631"/>
            <a:ext cx="683574" cy="232026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/>
          <a:p>
            <a:endParaRPr lang="LID4096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DAD4A58-95EF-96BC-2C6C-D065362AFD34}"/>
              </a:ext>
            </a:extLst>
          </p:cNvPr>
          <p:cNvGrpSpPr/>
          <p:nvPr/>
        </p:nvGrpSpPr>
        <p:grpSpPr>
          <a:xfrm>
            <a:off x="7449058" y="153118"/>
            <a:ext cx="4708204" cy="2224521"/>
            <a:chOff x="7449058" y="153118"/>
            <a:chExt cx="4708204" cy="222452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7FCC703-F6FF-4537-F1FE-CC93D2F5C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3796"/>
            <a:stretch/>
          </p:blipFill>
          <p:spPr>
            <a:xfrm>
              <a:off x="7449058" y="153119"/>
              <a:ext cx="4708204" cy="162342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F54884-B428-693F-D1E6-2E7315C40E1F}"/>
                </a:ext>
              </a:extLst>
            </p:cNvPr>
            <p:cNvSpPr txBox="1"/>
            <p:nvPr/>
          </p:nvSpPr>
          <p:spPr>
            <a:xfrm>
              <a:off x="7480169" y="1295033"/>
              <a:ext cx="1126503" cy="481515"/>
            </a:xfrm>
            <a:prstGeom prst="rect">
              <a:avLst/>
            </a:prstGeom>
            <a:noFill/>
            <a:ln w="28575">
              <a:noFill/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++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A073CBE-29FC-D97C-746A-B5AFF9BD6A17}"/>
                </a:ext>
              </a:extLst>
            </p:cNvPr>
            <p:cNvSpPr txBox="1"/>
            <p:nvPr/>
          </p:nvSpPr>
          <p:spPr>
            <a:xfrm>
              <a:off x="10908806" y="1920187"/>
              <a:ext cx="1165938" cy="45745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2400" dirty="0"/>
                <a:t>PstFrom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6B263EA9-D2C1-0FA0-A874-55884F3C0D88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1801002" y="192269"/>
              <a:ext cx="231663" cy="36635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9481CCA-6AE1-E89A-A0A1-CB5DB30D6B5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08013" y="1406810"/>
              <a:ext cx="928864" cy="4643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pt-BR" sz="2800" b="1" dirty="0"/>
                <a:t>05b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6280103-A934-E69A-40DB-B13EA471B8FA}"/>
                </a:ext>
              </a:extLst>
            </p:cNvPr>
            <p:cNvSpPr/>
            <p:nvPr/>
          </p:nvSpPr>
          <p:spPr>
            <a:xfrm>
              <a:off x="8821832" y="153118"/>
              <a:ext cx="618259" cy="23202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0">
              <a:noAutofit/>
            </a:bodyPr>
            <a:lstStyle/>
            <a:p>
              <a:endParaRPr lang="LID4096"/>
            </a:p>
          </p:txBody>
        </p:sp>
      </p:grpSp>
      <p:sp>
        <p:nvSpPr>
          <p:cNvPr id="65" name="L-Shape 64">
            <a:extLst>
              <a:ext uri="{FF2B5EF4-FFF2-40B4-BE49-F238E27FC236}">
                <a16:creationId xmlns:a16="http://schemas.microsoft.com/office/drawing/2014/main" id="{61254B9B-A3B1-19B8-F542-1FC682A842D1}"/>
              </a:ext>
            </a:extLst>
          </p:cNvPr>
          <p:cNvSpPr/>
          <p:nvPr/>
        </p:nvSpPr>
        <p:spPr>
          <a:xfrm>
            <a:off x="-15615" y="4650376"/>
            <a:ext cx="2861097" cy="2220315"/>
          </a:xfrm>
          <a:prstGeom prst="corner">
            <a:avLst>
              <a:gd name="adj1" fmla="val 100000"/>
              <a:gd name="adj2" fmla="val 98425"/>
            </a:avLst>
          </a:prstGeom>
          <a:solidFill>
            <a:srgbClr val="FFF2CC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0139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D60FC-DE5D-B3EE-302F-FA2CEE8E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D776F3-46B6-0EB5-EF35-A350BABEED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3" t="51720" r="83993" b="44840"/>
          <a:stretch/>
        </p:blipFill>
        <p:spPr>
          <a:xfrm>
            <a:off x="7480169" y="4216283"/>
            <a:ext cx="884229" cy="3135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FFD66F-9690-495E-3CA5-E608676D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8" t="78184" r="87023" b="15456"/>
          <a:stretch/>
        </p:blipFill>
        <p:spPr>
          <a:xfrm>
            <a:off x="7480170" y="4935706"/>
            <a:ext cx="698650" cy="5795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9F7E5A-95B0-7DBC-8EB2-6D611EA4D7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0" t="6280" r="90008" b="64387"/>
          <a:stretch/>
        </p:blipFill>
        <p:spPr>
          <a:xfrm>
            <a:off x="7480170" y="5576209"/>
            <a:ext cx="617749" cy="3147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41F5A9-FDD5-FBF3-FCEE-B97B4F2067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6" r="90567" b="85022"/>
          <a:stretch/>
        </p:blipFill>
        <p:spPr>
          <a:xfrm>
            <a:off x="7480169" y="5951977"/>
            <a:ext cx="617750" cy="3147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D113323-E750-2F78-456F-060B07BE8696}"/>
              </a:ext>
            </a:extLst>
          </p:cNvPr>
          <p:cNvGrpSpPr/>
          <p:nvPr/>
        </p:nvGrpSpPr>
        <p:grpSpPr>
          <a:xfrm>
            <a:off x="9905028" y="5384547"/>
            <a:ext cx="2127638" cy="781055"/>
            <a:chOff x="378485" y="1634539"/>
            <a:chExt cx="2127638" cy="78105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D8ABC02-9DF9-FF8B-4260-38D0F9265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0878"/>
            <a:stretch/>
          </p:blipFill>
          <p:spPr>
            <a:xfrm>
              <a:off x="378485" y="1647454"/>
              <a:ext cx="2096527" cy="7681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B874CC-81D6-9E52-8FAA-718F8336B707}"/>
                </a:ext>
              </a:extLst>
            </p:cNvPr>
            <p:cNvSpPr txBox="1"/>
            <p:nvPr/>
          </p:nvSpPr>
          <p:spPr>
            <a:xfrm>
              <a:off x="2040654" y="1634539"/>
              <a:ext cx="465469" cy="481515"/>
            </a:xfrm>
            <a:prstGeom prst="rect">
              <a:avLst/>
            </a:prstGeom>
            <a:noFill/>
            <a:ln w="28575">
              <a:noFill/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989F56-BB7D-F02E-2DE8-7674FB010C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r="6064" b="7750"/>
          <a:stretch/>
        </p:blipFill>
        <p:spPr>
          <a:xfrm>
            <a:off x="7480169" y="6331531"/>
            <a:ext cx="4552497" cy="3771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3703E2-76F9-76E3-8894-DB7872957C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9078" b="51918"/>
          <a:stretch/>
        </p:blipFill>
        <p:spPr>
          <a:xfrm>
            <a:off x="10273797" y="4916443"/>
            <a:ext cx="172775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4A5FC3A-1E92-EF2A-2356-0DB8C19A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" t="54819" r="33503" b="42390"/>
          <a:stretch/>
        </p:blipFill>
        <p:spPr>
          <a:xfrm>
            <a:off x="7480169" y="4607027"/>
            <a:ext cx="3840480" cy="25026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3053D03-D34C-B640-511A-FB9EBFF81CC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515" t="8888" r="33131" b="82489"/>
          <a:stretch/>
        </p:blipFill>
        <p:spPr>
          <a:xfrm>
            <a:off x="8214999" y="5627585"/>
            <a:ext cx="1541418" cy="25026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8" name="Arrow: Right 37">
            <a:extLst>
              <a:ext uri="{FF2B5EF4-FFF2-40B4-BE49-F238E27FC236}">
                <a16:creationId xmlns:a16="http://schemas.microsoft.com/office/drawing/2014/main" id="{4A0C03D4-0F0C-78E8-13E7-B2D73C50BB0E}"/>
              </a:ext>
            </a:extLst>
          </p:cNvPr>
          <p:cNvSpPr>
            <a:spLocks noChangeAspect="1"/>
          </p:cNvSpPr>
          <p:nvPr/>
        </p:nvSpPr>
        <p:spPr>
          <a:xfrm>
            <a:off x="7035057" y="6029727"/>
            <a:ext cx="296501" cy="23702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1B63E3-A9D1-64C4-1B1A-1CD06A4FBD18}"/>
              </a:ext>
            </a:extLst>
          </p:cNvPr>
          <p:cNvSpPr txBox="1"/>
          <p:nvPr/>
        </p:nvSpPr>
        <p:spPr>
          <a:xfrm>
            <a:off x="4930062" y="555341"/>
            <a:ext cx="1165938" cy="45745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r>
              <a:rPr lang="en-US" sz="2400" dirty="0"/>
              <a:t>PstFrom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446307-9487-FE7B-A0B2-2C41F8A1A5DB}"/>
              </a:ext>
            </a:extLst>
          </p:cNvPr>
          <p:cNvSpPr txBox="1"/>
          <p:nvPr/>
        </p:nvSpPr>
        <p:spPr>
          <a:xfrm>
            <a:off x="5053577" y="1178755"/>
            <a:ext cx="2084845" cy="45745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r>
              <a:rPr lang="en-US" sz="2400" dirty="0"/>
              <a:t>PEST interface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D87910-C2FA-5D38-8D66-C458C9A41161}"/>
              </a:ext>
            </a:extLst>
          </p:cNvPr>
          <p:cNvGrpSpPr>
            <a:grpSpLocks noChangeAspect="1"/>
          </p:cNvGrpSpPr>
          <p:nvPr/>
        </p:nvGrpSpPr>
        <p:grpSpPr>
          <a:xfrm>
            <a:off x="8514935" y="3823946"/>
            <a:ext cx="2439415" cy="684341"/>
            <a:chOff x="5293314" y="3004060"/>
            <a:chExt cx="1762125" cy="494339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DE3D795-81A8-5BDB-B296-84AF3E7E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8554"/>
            <a:stretch/>
          </p:blipFill>
          <p:spPr>
            <a:xfrm>
              <a:off x="5293314" y="3271934"/>
              <a:ext cx="1762125" cy="2264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000FE22-59B0-E197-DD1B-31E32AF1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10105" b="15086"/>
            <a:stretch/>
          </p:blipFill>
          <p:spPr>
            <a:xfrm>
              <a:off x="5294766" y="3004060"/>
              <a:ext cx="638175" cy="1995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5622CC3-D1A5-D9F7-3027-A0D5C1013F41}"/>
              </a:ext>
            </a:extLst>
          </p:cNvPr>
          <p:cNvSpPr txBox="1"/>
          <p:nvPr/>
        </p:nvSpPr>
        <p:spPr>
          <a:xfrm>
            <a:off x="8269752" y="4937937"/>
            <a:ext cx="1048419" cy="57950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dirty="0"/>
              <a:t>Simulation</a:t>
            </a:r>
          </a:p>
          <a:p>
            <a:pPr algn="ctr"/>
            <a:r>
              <a:rPr lang="en-US" dirty="0"/>
              <a:t>model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60B256-968D-2563-E4C7-443FDF944820}"/>
              </a:ext>
            </a:extLst>
          </p:cNvPr>
          <p:cNvSpPr txBox="1"/>
          <p:nvPr/>
        </p:nvSpPr>
        <p:spPr>
          <a:xfrm>
            <a:off x="8269752" y="5936208"/>
            <a:ext cx="1486665" cy="3395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b="1" dirty="0"/>
              <a:t>Pst PESTfrom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27E3851-ED79-B337-86C6-C43A0DBD083A}"/>
              </a:ext>
            </a:extLst>
          </p:cNvPr>
          <p:cNvGrpSpPr/>
          <p:nvPr/>
        </p:nvGrpSpPr>
        <p:grpSpPr>
          <a:xfrm>
            <a:off x="108370" y="89711"/>
            <a:ext cx="1424338" cy="635396"/>
            <a:chOff x="108370" y="89711"/>
            <a:chExt cx="1424338" cy="63539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CBA4109-EDDD-C1F6-4AD8-C3474A67C12D}"/>
                </a:ext>
              </a:extLst>
            </p:cNvPr>
            <p:cNvSpPr txBox="1"/>
            <p:nvPr/>
          </p:nvSpPr>
          <p:spPr>
            <a:xfrm>
              <a:off x="108370" y="167310"/>
              <a:ext cx="801189" cy="218263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A504CA6-5265-B426-3300-84D31E63309E}"/>
                </a:ext>
              </a:extLst>
            </p:cNvPr>
            <p:cNvSpPr txBox="1"/>
            <p:nvPr/>
          </p:nvSpPr>
          <p:spPr>
            <a:xfrm>
              <a:off x="965705" y="89711"/>
              <a:ext cx="567003" cy="339533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OBS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C94953-62C6-515B-3335-E2C508383FA3}"/>
                </a:ext>
              </a:extLst>
            </p:cNvPr>
            <p:cNvSpPr txBox="1"/>
            <p:nvPr/>
          </p:nvSpPr>
          <p:spPr>
            <a:xfrm>
              <a:off x="108370" y="453304"/>
              <a:ext cx="801189" cy="2182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AA8275-D597-DFE8-AFA7-718455F110C7}"/>
                </a:ext>
              </a:extLst>
            </p:cNvPr>
            <p:cNvSpPr txBox="1"/>
            <p:nvPr/>
          </p:nvSpPr>
          <p:spPr>
            <a:xfrm>
              <a:off x="962268" y="385574"/>
              <a:ext cx="567003" cy="339533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PAR</a:t>
              </a: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808B4A4-709C-04C5-6847-325E8E1C58D6}"/>
              </a:ext>
            </a:extLst>
          </p:cNvPr>
          <p:cNvCxnSpPr>
            <a:cxnSpLocks/>
          </p:cNvCxnSpPr>
          <p:nvPr/>
        </p:nvCxnSpPr>
        <p:spPr>
          <a:xfrm flipV="1">
            <a:off x="962268" y="384853"/>
            <a:ext cx="567003" cy="340254"/>
          </a:xfrm>
          <a:prstGeom prst="line">
            <a:avLst/>
          </a:prstGeom>
          <a:noFill/>
          <a:ln w="28575">
            <a:solidFill>
              <a:srgbClr val="FF0000"/>
            </a:solidFill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D1E9389-2D48-8BD1-D2E3-7FAAB10AAC1F}"/>
              </a:ext>
            </a:extLst>
          </p:cNvPr>
          <p:cNvGrpSpPr/>
          <p:nvPr/>
        </p:nvGrpSpPr>
        <p:grpSpPr>
          <a:xfrm>
            <a:off x="131390" y="1771514"/>
            <a:ext cx="5912356" cy="4380725"/>
            <a:chOff x="131390" y="1510256"/>
            <a:chExt cx="5912356" cy="4380725"/>
          </a:xfrm>
        </p:grpSpPr>
        <p:sp>
          <p:nvSpPr>
            <p:cNvPr id="81" name="L-Shape 80">
              <a:extLst>
                <a:ext uri="{FF2B5EF4-FFF2-40B4-BE49-F238E27FC236}">
                  <a16:creationId xmlns:a16="http://schemas.microsoft.com/office/drawing/2014/main" id="{B8160429-0905-56C8-4FF0-D27859771D1A}"/>
                </a:ext>
              </a:extLst>
            </p:cNvPr>
            <p:cNvSpPr/>
            <p:nvPr/>
          </p:nvSpPr>
          <p:spPr>
            <a:xfrm>
              <a:off x="131390" y="1510256"/>
              <a:ext cx="5912356" cy="4380725"/>
            </a:xfrm>
            <a:prstGeom prst="corner">
              <a:avLst>
                <a:gd name="adj1" fmla="val 74718"/>
                <a:gd name="adj2" fmla="val 10397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672834D-A87F-3752-F396-DB2FB386F02E}"/>
                </a:ext>
              </a:extLst>
            </p:cNvPr>
            <p:cNvGrpSpPr/>
            <p:nvPr/>
          </p:nvGrpSpPr>
          <p:grpSpPr>
            <a:xfrm>
              <a:off x="265719" y="1633175"/>
              <a:ext cx="5657850" cy="4106408"/>
              <a:chOff x="190445" y="1604005"/>
              <a:chExt cx="5657850" cy="4106408"/>
            </a:xfrm>
          </p:grpSpPr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1697196D-63A3-588B-577C-A767741AF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0445" y="2881488"/>
                <a:ext cx="5657850" cy="282892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DF26BD28-4C97-F593-659F-EB0E1150E6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-1" r="76139" b="90855"/>
              <a:stretch/>
            </p:blipFill>
            <p:spPr>
              <a:xfrm>
                <a:off x="209494" y="1604005"/>
                <a:ext cx="1849613" cy="3544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48143BF0-57C7-1E00-8C22-F66B84EA9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39831" t="15983" r="18735" b="75255"/>
              <a:stretch/>
            </p:blipFill>
            <p:spPr>
              <a:xfrm>
                <a:off x="199970" y="2460010"/>
                <a:ext cx="3211646" cy="3395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9FF7D448-13E8-05C4-3F45-FC255C8129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96"/>
          <a:stretch/>
        </p:blipFill>
        <p:spPr>
          <a:xfrm>
            <a:off x="4926766" y="153119"/>
            <a:ext cx="7230496" cy="24931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BE08F894-A283-7A38-091B-AB3A9E499A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908" y="808232"/>
            <a:ext cx="2118063" cy="783850"/>
          </a:xfrm>
          <a:prstGeom prst="rect">
            <a:avLst/>
          </a:prstGeom>
        </p:spPr>
      </p:pic>
      <p:sp>
        <p:nvSpPr>
          <p:cNvPr id="89" name="TextBox 3">
            <a:extLst>
              <a:ext uri="{FF2B5EF4-FFF2-40B4-BE49-F238E27FC236}">
                <a16:creationId xmlns:a16="http://schemas.microsoft.com/office/drawing/2014/main" id="{FA081183-5017-6946-B775-9D08E817FACB}"/>
              </a:ext>
            </a:extLst>
          </p:cNvPr>
          <p:cNvSpPr txBox="1"/>
          <p:nvPr/>
        </p:nvSpPr>
        <p:spPr>
          <a:xfrm>
            <a:off x="3579957" y="2541218"/>
            <a:ext cx="969489" cy="5026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LID4096"/>
            </a:defPPr>
            <a:lvl1pPr algn="ctr">
              <a:defRPr sz="1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800" dirty="0"/>
              <a:t>*.ins</a:t>
            </a:r>
            <a:endParaRPr lang="LID4096" sz="2800" dirty="0"/>
          </a:p>
        </p:txBody>
      </p:sp>
      <p:sp>
        <p:nvSpPr>
          <p:cNvPr id="90" name="TextBox 3">
            <a:extLst>
              <a:ext uri="{FF2B5EF4-FFF2-40B4-BE49-F238E27FC236}">
                <a16:creationId xmlns:a16="http://schemas.microsoft.com/office/drawing/2014/main" id="{4965551A-DCB5-E203-F733-E6DC255522F7}"/>
              </a:ext>
            </a:extLst>
          </p:cNvPr>
          <p:cNvSpPr txBox="1"/>
          <p:nvPr/>
        </p:nvSpPr>
        <p:spPr>
          <a:xfrm>
            <a:off x="125587" y="6214016"/>
            <a:ext cx="6649682" cy="502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LID4096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fld id="{9BF96697-E4E2-4A3B-AE10-288E42597DAF}" type="TxLink">
              <a:rPr lang="en-US" sz="1900" b="1" smtClean="0"/>
              <a:pPr/>
              <a:t>!oname:hds_otype:lst_usecol:trgw-0-2-15_time:3652.5!~,~34.6</a:t>
            </a:fld>
            <a:endParaRPr lang="LID4096" sz="1900" b="1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191262A-684F-D4EE-27AB-AEDC83ACAE70}"/>
              </a:ext>
            </a:extLst>
          </p:cNvPr>
          <p:cNvGrpSpPr/>
          <p:nvPr/>
        </p:nvGrpSpPr>
        <p:grpSpPr>
          <a:xfrm>
            <a:off x="5053577" y="186260"/>
            <a:ext cx="5899714" cy="2382848"/>
            <a:chOff x="8378677" y="-588807"/>
            <a:chExt cx="5899714" cy="2382848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A348D29-30B5-E14C-EAE1-EC0E27160C78}"/>
                </a:ext>
              </a:extLst>
            </p:cNvPr>
            <p:cNvSpPr txBox="1"/>
            <p:nvPr/>
          </p:nvSpPr>
          <p:spPr>
            <a:xfrm>
              <a:off x="9962150" y="-233196"/>
              <a:ext cx="1165938" cy="45745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r>
                <a:rPr lang="en-US" sz="2400" dirty="0"/>
                <a:t>PstFrom</a:t>
              </a:r>
            </a:p>
          </p:txBody>
        </p:sp>
        <p:sp>
          <p:nvSpPr>
            <p:cNvPr id="95" name="Arrow: Right 94">
              <a:extLst>
                <a:ext uri="{FF2B5EF4-FFF2-40B4-BE49-F238E27FC236}">
                  <a16:creationId xmlns:a16="http://schemas.microsoft.com/office/drawing/2014/main" id="{C678ED54-80B3-AA1F-77C3-962D1125F90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4046728" y="-472794"/>
              <a:ext cx="231663" cy="36635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9E1FFF-3EEE-C63B-DA8E-AC144F8EA1C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378677" y="1329662"/>
              <a:ext cx="928864" cy="4643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pt-BR" sz="2800" b="1" dirty="0"/>
                <a:t>05b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74B1867-074F-F37A-B1C7-99B9F5FD2AFA}"/>
                </a:ext>
              </a:extLst>
            </p:cNvPr>
            <p:cNvSpPr/>
            <p:nvPr/>
          </p:nvSpPr>
          <p:spPr>
            <a:xfrm>
              <a:off x="8727747" y="-588807"/>
              <a:ext cx="716616" cy="23202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 anchorCtr="0">
              <a:noAutofit/>
            </a:bodyPr>
            <a:lstStyle/>
            <a:p>
              <a:endParaRPr lang="LID4096"/>
            </a:p>
          </p:txBody>
        </p:sp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E4AB8767-29D2-D351-31E0-B4B74C9DBD2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" t="3410" r="221" b="-4350"/>
          <a:stretch/>
        </p:blipFill>
        <p:spPr>
          <a:xfrm>
            <a:off x="7480169" y="2790476"/>
            <a:ext cx="3525944" cy="7018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D6BA7A10-3DD7-3977-3E82-096B0E5AB23C}"/>
              </a:ext>
            </a:extLst>
          </p:cNvPr>
          <p:cNvSpPr txBox="1"/>
          <p:nvPr/>
        </p:nvSpPr>
        <p:spPr>
          <a:xfrm>
            <a:off x="7480169" y="1295033"/>
            <a:ext cx="1126503" cy="48151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none" anchor="ctr" anchorCtr="0">
            <a:noAutofit/>
          </a:bodyPr>
          <a:lstStyle>
            <a:defPPr>
              <a:defRPr lang="LID4096"/>
            </a:defPPr>
          </a:lstStyle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7B736C5-7AB1-4C58-5DBF-85D74890304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8343" r="58566" b="82895"/>
          <a:stretch/>
        </p:blipFill>
        <p:spPr>
          <a:xfrm>
            <a:off x="276706" y="2330781"/>
            <a:ext cx="3211646" cy="3395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6" name="L-Shape 105">
            <a:extLst>
              <a:ext uri="{FF2B5EF4-FFF2-40B4-BE49-F238E27FC236}">
                <a16:creationId xmlns:a16="http://schemas.microsoft.com/office/drawing/2014/main" id="{418777BE-C358-6579-D868-B3FEADD5A95D}"/>
              </a:ext>
            </a:extLst>
          </p:cNvPr>
          <p:cNvSpPr/>
          <p:nvPr/>
        </p:nvSpPr>
        <p:spPr>
          <a:xfrm>
            <a:off x="0" y="1592082"/>
            <a:ext cx="6917977" cy="5265918"/>
          </a:xfrm>
          <a:prstGeom prst="corner">
            <a:avLst>
              <a:gd name="adj1" fmla="val 77932"/>
              <a:gd name="adj2" fmla="val 91289"/>
            </a:avLst>
          </a:prstGeom>
          <a:solidFill>
            <a:srgbClr val="FFF2CC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376DBD6A-7E91-2D70-E74C-355D777560BF}"/>
              </a:ext>
            </a:extLst>
          </p:cNvPr>
          <p:cNvSpPr>
            <a:spLocks noChangeAspect="1"/>
          </p:cNvSpPr>
          <p:nvPr/>
        </p:nvSpPr>
        <p:spPr>
          <a:xfrm>
            <a:off x="7071768" y="4613649"/>
            <a:ext cx="296501" cy="23702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8291362-3D11-9DEB-0A5C-CBBD33F5FF42}"/>
              </a:ext>
            </a:extLst>
          </p:cNvPr>
          <p:cNvSpPr txBox="1">
            <a:spLocks noChangeAspect="1"/>
          </p:cNvSpPr>
          <p:nvPr/>
        </p:nvSpPr>
        <p:spPr>
          <a:xfrm>
            <a:off x="3819345" y="1894433"/>
            <a:ext cx="725917" cy="5026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pt-BR" sz="2800" b="1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070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C7E67-A662-9482-7407-EAD190FF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7C942588-B251-8F8A-BD7C-82FD71DFE435}"/>
              </a:ext>
            </a:extLst>
          </p:cNvPr>
          <p:cNvGrpSpPr/>
          <p:nvPr/>
        </p:nvGrpSpPr>
        <p:grpSpPr>
          <a:xfrm>
            <a:off x="108370" y="89711"/>
            <a:ext cx="1424338" cy="635396"/>
            <a:chOff x="108370" y="89711"/>
            <a:chExt cx="1424338" cy="63539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AA96CE5-F292-6C11-1F7D-06191FB47A5C}"/>
                </a:ext>
              </a:extLst>
            </p:cNvPr>
            <p:cNvSpPr txBox="1"/>
            <p:nvPr/>
          </p:nvSpPr>
          <p:spPr>
            <a:xfrm>
              <a:off x="108370" y="167310"/>
              <a:ext cx="801189" cy="218263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E3376A8-B16A-4C24-C65A-6BAF97C7E96B}"/>
                </a:ext>
              </a:extLst>
            </p:cNvPr>
            <p:cNvSpPr txBox="1"/>
            <p:nvPr/>
          </p:nvSpPr>
          <p:spPr>
            <a:xfrm>
              <a:off x="965705" y="89711"/>
              <a:ext cx="567003" cy="339533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OBS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6EE6C64-B455-33FF-4F85-DBE6AA8C7D45}"/>
                </a:ext>
              </a:extLst>
            </p:cNvPr>
            <p:cNvSpPr txBox="1"/>
            <p:nvPr/>
          </p:nvSpPr>
          <p:spPr>
            <a:xfrm>
              <a:off x="108370" y="453304"/>
              <a:ext cx="801189" cy="2182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txBody>
            <a:bodyPr wrap="none" anchor="ctr" anchorCtr="0">
              <a:noAutofit/>
            </a:bodyPr>
            <a:lstStyle>
              <a:defPPr>
                <a:defRPr lang="LID4096"/>
              </a:defPPr>
            </a:lstStyle>
            <a:p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266CB75-13D7-BA83-4806-56848EEB77BF}"/>
                </a:ext>
              </a:extLst>
            </p:cNvPr>
            <p:cNvSpPr txBox="1"/>
            <p:nvPr/>
          </p:nvSpPr>
          <p:spPr>
            <a:xfrm>
              <a:off x="962268" y="385574"/>
              <a:ext cx="567003" cy="339533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PAR</a:t>
              </a: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E2E928-D6EB-2803-20B8-4F7A7054BAAC}"/>
              </a:ext>
            </a:extLst>
          </p:cNvPr>
          <p:cNvCxnSpPr>
            <a:cxnSpLocks/>
          </p:cNvCxnSpPr>
          <p:nvPr/>
        </p:nvCxnSpPr>
        <p:spPr>
          <a:xfrm>
            <a:off x="962268" y="89711"/>
            <a:ext cx="567003" cy="295142"/>
          </a:xfrm>
          <a:prstGeom prst="line">
            <a:avLst/>
          </a:prstGeom>
          <a:noFill/>
          <a:ln w="28575">
            <a:solidFill>
              <a:srgbClr val="0000FF"/>
            </a:solidFill>
          </a:ln>
          <a:effectLst/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292E9EF-3459-808A-37B6-4E29A6803E55}"/>
              </a:ext>
            </a:extLst>
          </p:cNvPr>
          <p:cNvGrpSpPr>
            <a:grpSpLocks noChangeAspect="1"/>
          </p:cNvGrpSpPr>
          <p:nvPr/>
        </p:nvGrpSpPr>
        <p:grpSpPr>
          <a:xfrm>
            <a:off x="108370" y="792838"/>
            <a:ext cx="4463385" cy="3645812"/>
            <a:chOff x="359943" y="1876867"/>
            <a:chExt cx="4088231" cy="333937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EF8ECC-ADA6-E39A-447D-9301D92FDD79}"/>
                </a:ext>
              </a:extLst>
            </p:cNvPr>
            <p:cNvSpPr txBox="1"/>
            <p:nvPr/>
          </p:nvSpPr>
          <p:spPr>
            <a:xfrm>
              <a:off x="359943" y="1876867"/>
              <a:ext cx="4088231" cy="333937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2000" dirty="0"/>
                <a:t>tag = </a:t>
              </a:r>
              <a:r>
                <a:rPr lang="en-US" sz="2000" dirty="0">
                  <a:solidFill>
                    <a:srgbClr val="FF0000"/>
                  </a:solidFill>
                </a:rPr>
                <a:t>"npf_k_“</a:t>
              </a:r>
            </a:p>
            <a:p>
              <a:endParaRPr lang="en-US" sz="2000" dirty="0">
                <a:solidFill>
                  <a:srgbClr val="FF0000"/>
                </a:solidFill>
              </a:endParaRPr>
            </a:p>
            <a:p>
              <a:endParaRPr lang="en-US" sz="2000" dirty="0">
                <a:solidFill>
                  <a:srgbClr val="FF0000"/>
                </a:solidFill>
              </a:endParaRPr>
            </a:p>
            <a:p>
              <a:endParaRPr lang="en-US" sz="2000" dirty="0">
                <a:solidFill>
                  <a:srgbClr val="FF0000"/>
                </a:solidFill>
              </a:endParaRPr>
            </a:p>
            <a:p>
              <a:endParaRPr lang="en-US" sz="2000" dirty="0">
                <a:solidFill>
                  <a:srgbClr val="FF0000"/>
                </a:solidFill>
              </a:endParaRPr>
            </a:p>
            <a:p>
              <a:endParaRPr lang="en-US" sz="2000" dirty="0">
                <a:solidFill>
                  <a:srgbClr val="FF0000"/>
                </a:solidFill>
              </a:endParaRPr>
            </a:p>
            <a:p>
              <a:endParaRPr lang="en-US" sz="2000" dirty="0">
                <a:solidFill>
                  <a:srgbClr val="FF0000"/>
                </a:solidFill>
              </a:endParaRPr>
            </a:p>
            <a:p>
              <a:endParaRPr lang="en-US" sz="2000" dirty="0">
                <a:solidFill>
                  <a:srgbClr val="FF0000"/>
                </a:solidFill>
              </a:endParaRPr>
            </a:p>
            <a:p>
              <a:endParaRPr lang="en-US" sz="700" dirty="0">
                <a:solidFill>
                  <a:srgbClr val="FF0000"/>
                </a:solidFill>
              </a:endParaRPr>
            </a:p>
            <a:p>
              <a:r>
                <a:rPr lang="en-US" sz="2000" dirty="0"/>
                <a:t>tag = </a:t>
              </a:r>
              <a:r>
                <a:rPr lang="en-US" sz="2000" dirty="0">
                  <a:solidFill>
                    <a:srgbClr val="FF0000"/>
                  </a:solidFill>
                </a:rPr>
                <a:t>"</a:t>
              </a:r>
              <a:r>
                <a:rPr lang="en-US" sz="2000" dirty="0" err="1">
                  <a:solidFill>
                    <a:srgbClr val="FF0000"/>
                  </a:solidFill>
                </a:rPr>
                <a:t>sto_ss</a:t>
              </a:r>
              <a:r>
                <a:rPr lang="en-US" sz="2000" dirty="0">
                  <a:solidFill>
                    <a:srgbClr val="FF0000"/>
                  </a:solidFill>
                </a:rPr>
                <a:t>“</a:t>
              </a:r>
            </a:p>
            <a:p>
              <a:r>
                <a:rPr lang="en-US" sz="2000" dirty="0"/>
                <a:t>tag = </a:t>
              </a:r>
              <a:r>
                <a:rPr lang="en-US" sz="2000" dirty="0">
                  <a:solidFill>
                    <a:srgbClr val="FF0000"/>
                  </a:solidFill>
                </a:rPr>
                <a:t>"</a:t>
              </a:r>
              <a:r>
                <a:rPr lang="en-US" sz="2000" dirty="0" err="1">
                  <a:solidFill>
                    <a:srgbClr val="FF0000"/>
                  </a:solidFill>
                </a:rPr>
                <a:t>sto_sy</a:t>
              </a:r>
              <a:r>
                <a:rPr lang="en-US" sz="2000" dirty="0">
                  <a:solidFill>
                    <a:srgbClr val="FF0000"/>
                  </a:solidFill>
                </a:rPr>
                <a:t>“</a:t>
              </a:r>
            </a:p>
            <a:p>
              <a:r>
                <a:rPr lang="en-US" sz="2000" dirty="0"/>
                <a:t>tag = </a:t>
              </a:r>
              <a:r>
                <a:rPr lang="en-US" sz="2000" dirty="0">
                  <a:solidFill>
                    <a:srgbClr val="FF0000"/>
                  </a:solidFill>
                </a:rPr>
                <a:t>"ne_"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41957C0-F1E6-BBF7-F2FC-9CF59B9E9F5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7699" y="2960016"/>
              <a:ext cx="3590317" cy="1209675"/>
              <a:chOff x="723900" y="3581400"/>
              <a:chExt cx="2857500" cy="962769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576169F2-F199-019F-49FE-E0AE15991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3900" y="4001244"/>
                <a:ext cx="2457450" cy="314325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6229038-F788-6E3F-FF12-A70A0AEEF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61" t="19254"/>
              <a:stretch/>
            </p:blipFill>
            <p:spPr>
              <a:xfrm>
                <a:off x="723900" y="3581400"/>
                <a:ext cx="2857500" cy="438389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DCC98E8-B7BC-6E70-E793-12175D494F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900" y="4239369"/>
                <a:ext cx="2686050" cy="304800"/>
              </a:xfrm>
              <a:prstGeom prst="rect">
                <a:avLst/>
              </a:prstGeom>
            </p:spPr>
          </p:pic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F1C74F4-2ED7-160D-78B2-28352825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000" y="2286759"/>
              <a:ext cx="3855290" cy="591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408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30E01-4A56-E239-618C-B3AA61927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85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87F6D-7A6C-9500-7AB0-140A6182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B52CCA-3179-8281-2961-47EB5DDF2E3F}"/>
              </a:ext>
            </a:extLst>
          </p:cNvPr>
          <p:cNvSpPr txBox="1"/>
          <p:nvPr/>
        </p:nvSpPr>
        <p:spPr>
          <a:xfrm>
            <a:off x="482097" y="519768"/>
            <a:ext cx="61065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We just parameterized many recognized sources of model input uncertainty at several spatial and temporal scales. And we expressed spatial and temporal correlation in those parameters. “ </a:t>
            </a:r>
          </a:p>
          <a:p>
            <a:endParaRPr lang="en-GB" dirty="0"/>
          </a:p>
          <a:p>
            <a:pPr algn="ctr"/>
            <a:r>
              <a:rPr lang="en-GB" dirty="0"/>
              <a:t>One last set of parameters that we will need later for sequential data assimilation - initial conditions: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7067F-9EEF-A998-62B7-2A464D676CF2}"/>
              </a:ext>
            </a:extLst>
          </p:cNvPr>
          <p:cNvSpPr txBox="1"/>
          <p:nvPr/>
        </p:nvSpPr>
        <p:spPr>
          <a:xfrm>
            <a:off x="181070" y="2996759"/>
            <a:ext cx="6590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200" dirty="0"/>
              <a:t>http://localhost:8888/notebooks/01_GMDSI_____advanced/01_Tutorials___AGAIN___/part2_01_pstfrom______W_in_progress/freyberg_pstfrom_pest_setup_02.ipynb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99B39-8708-CE05-E5EC-4309DC464B59}"/>
              </a:ext>
            </a:extLst>
          </p:cNvPr>
          <p:cNvSpPr txBox="1"/>
          <p:nvPr/>
        </p:nvSpPr>
        <p:spPr>
          <a:xfrm>
            <a:off x="7236823" y="6596390"/>
            <a:ext cx="4955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100" dirty="0"/>
              <a:t>/</a:t>
            </a:r>
            <a:r>
              <a:rPr lang="LID4096" sz="1100" dirty="0"/>
              <a:t>part0_02_intro_to_freyberg__W_inprogress/intro_freyberg_model_02_02.ipynb</a:t>
            </a:r>
          </a:p>
        </p:txBody>
      </p:sp>
    </p:spTree>
    <p:extLst>
      <p:ext uri="{BB962C8B-B14F-4D97-AF65-F5344CB8AC3E}">
        <p14:creationId xmlns:p14="http://schemas.microsoft.com/office/powerpoint/2010/main" val="79970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1378</Words>
  <Application>Microsoft Office PowerPoint</Application>
  <PresentationFormat>Widescreen</PresentationFormat>
  <Paragraphs>194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49</cp:revision>
  <dcterms:created xsi:type="dcterms:W3CDTF">2024-12-17T09:33:28Z</dcterms:created>
  <dcterms:modified xsi:type="dcterms:W3CDTF">2024-12-24T18:40:12Z</dcterms:modified>
</cp:coreProperties>
</file>